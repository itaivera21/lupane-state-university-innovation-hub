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73" r:id="rId4"/>
    <p:sldId id="274" r:id="rId5"/>
    <p:sldId id="275" r:id="rId6"/>
    <p:sldId id="276" r:id="rId7"/>
    <p:sldId id="277" r:id="rId8"/>
    <p:sldId id="278" r:id="rId9"/>
    <p:sldId id="279" r:id="rId10"/>
    <p:sldId id="280" r:id="rId11"/>
    <p:sldId id="281" r:id="rId12"/>
    <p:sldId id="261" r:id="rId13"/>
    <p:sldId id="283" r:id="rId14"/>
    <p:sldId id="262" r:id="rId15"/>
    <p:sldId id="291" r:id="rId16"/>
    <p:sldId id="292" r:id="rId17"/>
    <p:sldId id="284" r:id="rId18"/>
    <p:sldId id="285" r:id="rId19"/>
    <p:sldId id="286" r:id="rId20"/>
    <p:sldId id="287" r:id="rId21"/>
    <p:sldId id="289" r:id="rId22"/>
    <p:sldId id="293" r:id="rId23"/>
    <p:sldId id="290" r:id="rId24"/>
    <p:sldId id="264" r:id="rId25"/>
    <p:sldId id="265" r:id="rId26"/>
    <p:sldId id="266" r:id="rId27"/>
    <p:sldId id="267" r:id="rId28"/>
    <p:sldId id="27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4660"/>
  </p:normalViewPr>
  <p:slideViewPr>
    <p:cSldViewPr snapToGrid="0">
      <p:cViewPr varScale="1">
        <p:scale>
          <a:sx n="71" d="100"/>
          <a:sy n="71" d="100"/>
        </p:scale>
        <p:origin x="70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54C34F1-3980-4999-8F57-FA04166BB326}" type="datetimeFigureOut">
              <a:rPr lang="en-US" smtClean="0"/>
              <a:t>2/24/2026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1980632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4C34F1-3980-4999-8F57-FA04166BB326}"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240932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4C34F1-3980-4999-8F57-FA04166BB326}"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129317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4C34F1-3980-4999-8F57-FA04166BB326}"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259247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4C34F1-3980-4999-8F57-FA04166BB326}"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239010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4C34F1-3980-4999-8F57-FA04166BB326}"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4117338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4C34F1-3980-4999-8F57-FA04166BB326}"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3082132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C34F1-3980-4999-8F57-FA04166BB326}"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2100901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C34F1-3980-4999-8F57-FA04166BB326}"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3874699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C34F1-3980-4999-8F57-FA04166BB326}"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193529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C34F1-3980-4999-8F57-FA04166BB326}"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749988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C34F1-3980-4999-8F57-FA04166BB326}"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7B49C4-8BB7-4F5D-A86E-E1FF420C6DD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01723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C34F1-3980-4999-8F57-FA04166BB326}"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4108760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54C34F1-3980-4999-8F57-FA04166BB326}"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3556247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54C34F1-3980-4999-8F57-FA04166BB326}"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2715996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4C34F1-3980-4999-8F57-FA04166BB326}"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36140685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4C34F1-3980-4999-8F57-FA04166BB326}"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7B49C4-8BB7-4F5D-A86E-E1FF420C6DDF}" type="slidenum">
              <a:rPr lang="en-US" smtClean="0"/>
              <a:t>‹#›</a:t>
            </a:fld>
            <a:endParaRPr lang="en-US"/>
          </a:p>
        </p:txBody>
      </p:sp>
    </p:spTree>
    <p:extLst>
      <p:ext uri="{BB962C8B-B14F-4D97-AF65-F5344CB8AC3E}">
        <p14:creationId xmlns:p14="http://schemas.microsoft.com/office/powerpoint/2010/main" val="1542100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54C34F1-3980-4999-8F57-FA04166BB326}" type="datetimeFigureOut">
              <a:rPr lang="en-US" smtClean="0"/>
              <a:t>2/24/2026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47B49C4-8BB7-4F5D-A86E-E1FF420C6DDF}" type="slidenum">
              <a:rPr lang="en-US" smtClean="0"/>
              <a:t>‹#›</a:t>
            </a:fld>
            <a:endParaRPr lang="en-US"/>
          </a:p>
        </p:txBody>
      </p:sp>
    </p:spTree>
    <p:extLst>
      <p:ext uri="{BB962C8B-B14F-4D97-AF65-F5344CB8AC3E}">
        <p14:creationId xmlns:p14="http://schemas.microsoft.com/office/powerpoint/2010/main" val="208494637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C7F7-36E2-B349-AE75-5ABF08E651C0}"/>
              </a:ext>
            </a:extLst>
          </p:cNvPr>
          <p:cNvSpPr>
            <a:spLocks noGrp="1"/>
          </p:cNvSpPr>
          <p:nvPr>
            <p:ph type="ctrTitle"/>
          </p:nvPr>
        </p:nvSpPr>
        <p:spPr>
          <a:xfrm>
            <a:off x="1524000" y="1122362"/>
            <a:ext cx="9144000" cy="2938650"/>
          </a:xfrm>
        </p:spPr>
        <p:txBody>
          <a:bodyPr>
            <a:normAutofit/>
          </a:bodyPr>
          <a:lstStyle/>
          <a:p>
            <a:pPr algn="ctr"/>
            <a:br>
              <a:rPr lang="en-US" dirty="0"/>
            </a:br>
            <a:br>
              <a:rPr lang="en-US" dirty="0"/>
            </a:br>
            <a:r>
              <a:rPr lang="en-US" dirty="0"/>
              <a:t>Innovation Hub</a:t>
            </a:r>
            <a:br>
              <a:rPr lang="en-US" dirty="0"/>
            </a:br>
            <a:r>
              <a:rPr lang="en-US" sz="1800" dirty="0"/>
              <a:t>Fostering collaboration and Innovation</a:t>
            </a:r>
            <a:br>
              <a:rPr lang="en-US" sz="1800" dirty="0"/>
            </a:br>
            <a:r>
              <a:rPr lang="en-US" sz="1800" dirty="0"/>
              <a:t>among students</a:t>
            </a:r>
            <a:endParaRPr lang="en-US" dirty="0"/>
          </a:p>
        </p:txBody>
      </p:sp>
      <p:sp>
        <p:nvSpPr>
          <p:cNvPr id="3" name="Subtitle 2">
            <a:extLst>
              <a:ext uri="{FF2B5EF4-FFF2-40B4-BE49-F238E27FC236}">
                <a16:creationId xmlns:a16="http://schemas.microsoft.com/office/drawing/2014/main" id="{0827EBE5-51D3-D3F1-4A5D-344225DDE88A}"/>
              </a:ext>
            </a:extLst>
          </p:cNvPr>
          <p:cNvSpPr>
            <a:spLocks noGrp="1"/>
          </p:cNvSpPr>
          <p:nvPr>
            <p:ph type="subTitle" idx="1"/>
          </p:nvPr>
        </p:nvSpPr>
        <p:spPr>
          <a:xfrm>
            <a:off x="914400" y="4061012"/>
            <a:ext cx="10502153" cy="2527160"/>
          </a:xfrm>
        </p:spPr>
        <p:txBody>
          <a:bodyPr>
            <a:normAutofit/>
          </a:bodyPr>
          <a:lstStyle/>
          <a:p>
            <a:pPr algn="r"/>
            <a:endParaRPr lang="en-US" dirty="0"/>
          </a:p>
          <a:p>
            <a:pPr algn="r"/>
            <a:endParaRPr lang="en-US" dirty="0"/>
          </a:p>
          <a:p>
            <a:pPr algn="r"/>
            <a:endParaRPr lang="en-US" dirty="0"/>
          </a:p>
          <a:p>
            <a:pPr algn="r"/>
            <a:endParaRPr lang="en-US" dirty="0"/>
          </a:p>
          <a:p>
            <a:pPr algn="r"/>
            <a:endParaRPr lang="en-US" dirty="0"/>
          </a:p>
        </p:txBody>
      </p:sp>
      <p:pic>
        <p:nvPicPr>
          <p:cNvPr id="5" name="Picture 4">
            <a:extLst>
              <a:ext uri="{FF2B5EF4-FFF2-40B4-BE49-F238E27FC236}">
                <a16:creationId xmlns:a16="http://schemas.microsoft.com/office/drawing/2014/main" id="{D40917F5-36C9-6C4E-E749-953B2ED7F2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1977" y="269828"/>
            <a:ext cx="2143125" cy="2133600"/>
          </a:xfrm>
          <a:prstGeom prst="rect">
            <a:avLst/>
          </a:prstGeom>
        </p:spPr>
      </p:pic>
    </p:spTree>
    <p:extLst>
      <p:ext uri="{BB962C8B-B14F-4D97-AF65-F5344CB8AC3E}">
        <p14:creationId xmlns:p14="http://schemas.microsoft.com/office/powerpoint/2010/main" val="3083905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8B1A-F0C7-FCF6-A745-DEFDB33AF338}"/>
              </a:ext>
            </a:extLst>
          </p:cNvPr>
          <p:cNvSpPr>
            <a:spLocks noGrp="1"/>
          </p:cNvSpPr>
          <p:nvPr>
            <p:ph type="title"/>
          </p:nvPr>
        </p:nvSpPr>
        <p:spPr>
          <a:xfrm>
            <a:off x="1143001" y="0"/>
            <a:ext cx="9905998" cy="847211"/>
          </a:xfrm>
        </p:spPr>
        <p:txBody>
          <a:bodyPr>
            <a:normAutofit/>
          </a:bodyPr>
          <a:lstStyle/>
          <a:p>
            <a:r>
              <a:rPr lang="en-US" sz="4800" dirty="0"/>
              <a:t>Problem Statement</a:t>
            </a:r>
          </a:p>
        </p:txBody>
      </p:sp>
      <p:sp>
        <p:nvSpPr>
          <p:cNvPr id="3" name="Content Placeholder 2">
            <a:extLst>
              <a:ext uri="{FF2B5EF4-FFF2-40B4-BE49-F238E27FC236}">
                <a16:creationId xmlns:a16="http://schemas.microsoft.com/office/drawing/2014/main" id="{1C1BCC68-B47A-0A6A-ABEA-A3AA530C871C}"/>
              </a:ext>
            </a:extLst>
          </p:cNvPr>
          <p:cNvSpPr>
            <a:spLocks noGrp="1"/>
          </p:cNvSpPr>
          <p:nvPr>
            <p:ph idx="1"/>
          </p:nvPr>
        </p:nvSpPr>
        <p:spPr>
          <a:xfrm>
            <a:off x="1141412" y="1250575"/>
            <a:ext cx="9905999" cy="5284695"/>
          </a:xfrm>
        </p:spPr>
        <p:txBody>
          <a:bodyPr>
            <a:normAutofit/>
          </a:bodyPr>
          <a:lstStyle/>
          <a:p>
            <a:pPr marL="0" indent="0">
              <a:buNone/>
            </a:pPr>
            <a:r>
              <a:rPr lang="en-US" dirty="0"/>
              <a:t>The current modular teaching structure at LSU encourages </a:t>
            </a:r>
            <a:r>
              <a:rPr lang="en-US" b="1" dirty="0"/>
              <a:t>short-term learning</a:t>
            </a:r>
            <a:r>
              <a:rPr lang="en-US" dirty="0"/>
              <a:t>, resulting in flash learning and </a:t>
            </a:r>
            <a:r>
              <a:rPr lang="en-US" b="1" dirty="0"/>
              <a:t>rapid skill atrophy</a:t>
            </a:r>
            <a:r>
              <a:rPr lang="en-US" dirty="0"/>
              <a:t> post-examination. Students lack a continuous, interdisciplinary 'sandbox' to apply skills from previous modules (e.g., Java, PC Assembly) to long-term projects. </a:t>
            </a:r>
          </a:p>
          <a:p>
            <a:pPr marL="0" indent="0">
              <a:buNone/>
            </a:pPr>
            <a:endParaRPr lang="en-US" dirty="0"/>
          </a:p>
          <a:p>
            <a:pPr marL="0" indent="0">
              <a:buNone/>
            </a:pPr>
            <a:r>
              <a:rPr lang="en-US" dirty="0"/>
              <a:t>Once a module ends and exams are passed, students frequently abandon their technical skills, resulting in a lack of tangible projects or "proof of work" before reaching their industry attachment or final year dissertation hence the only proof of work is usually our group projects before going to the industry or our final year dissertations.</a:t>
            </a:r>
          </a:p>
          <a:p>
            <a:pPr marL="0" indent="0">
              <a:buNone/>
            </a:pPr>
            <a:endParaRPr lang="en-US" dirty="0"/>
          </a:p>
          <a:p>
            <a:pPr marL="0" indent="0">
              <a:buNone/>
            </a:pPr>
            <a:endParaRPr lang="en-US" sz="1600" dirty="0"/>
          </a:p>
        </p:txBody>
      </p:sp>
    </p:spTree>
    <p:extLst>
      <p:ext uri="{BB962C8B-B14F-4D97-AF65-F5344CB8AC3E}">
        <p14:creationId xmlns:p14="http://schemas.microsoft.com/office/powerpoint/2010/main" val="3802003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581A9-4183-5693-AEA7-2605D402A156}"/>
              </a:ext>
            </a:extLst>
          </p:cNvPr>
          <p:cNvSpPr>
            <a:spLocks noGrp="1"/>
          </p:cNvSpPr>
          <p:nvPr>
            <p:ph type="title"/>
          </p:nvPr>
        </p:nvSpPr>
        <p:spPr>
          <a:xfrm>
            <a:off x="1143001" y="0"/>
            <a:ext cx="9905998" cy="995129"/>
          </a:xfrm>
        </p:spPr>
        <p:txBody>
          <a:bodyPr/>
          <a:lstStyle/>
          <a:p>
            <a:r>
              <a:rPr lang="en-US" dirty="0"/>
              <a:t>Continuation...</a:t>
            </a:r>
          </a:p>
        </p:txBody>
      </p:sp>
      <p:sp>
        <p:nvSpPr>
          <p:cNvPr id="3" name="Content Placeholder 2">
            <a:extLst>
              <a:ext uri="{FF2B5EF4-FFF2-40B4-BE49-F238E27FC236}">
                <a16:creationId xmlns:a16="http://schemas.microsoft.com/office/drawing/2014/main" id="{B36C53DE-97C7-73B5-AC20-E351CDC7073D}"/>
              </a:ext>
            </a:extLst>
          </p:cNvPr>
          <p:cNvSpPr>
            <a:spLocks noGrp="1"/>
          </p:cNvSpPr>
          <p:nvPr>
            <p:ph idx="1"/>
          </p:nvPr>
        </p:nvSpPr>
        <p:spPr>
          <a:xfrm>
            <a:off x="1141412" y="1452282"/>
            <a:ext cx="9905999" cy="4338919"/>
          </a:xfrm>
        </p:spPr>
        <p:txBody>
          <a:bodyPr/>
          <a:lstStyle/>
          <a:p>
            <a:pPr marL="0" indent="0">
              <a:buNone/>
            </a:pPr>
            <a:r>
              <a:rPr lang="en-US" dirty="0"/>
              <a:t>This creates a </a:t>
            </a:r>
            <a:r>
              <a:rPr lang="en-US" b="1" dirty="0"/>
              <a:t>'Portfolio Gap,'</a:t>
            </a:r>
            <a:r>
              <a:rPr lang="en-US" dirty="0"/>
              <a:t> where students reach their final year or industry attachment without a tangible body of work, diminishing their employability and the university's research output.</a:t>
            </a:r>
          </a:p>
          <a:p>
            <a:pPr marL="0" indent="0">
              <a:buNone/>
            </a:pPr>
            <a:endParaRPr lang="en-US" dirty="0"/>
          </a:p>
        </p:txBody>
      </p:sp>
    </p:spTree>
    <p:extLst>
      <p:ext uri="{BB962C8B-B14F-4D97-AF65-F5344CB8AC3E}">
        <p14:creationId xmlns:p14="http://schemas.microsoft.com/office/powerpoint/2010/main" val="1959565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9B47B-E3C8-1A25-166C-AA542E47684D}"/>
              </a:ext>
            </a:extLst>
          </p:cNvPr>
          <p:cNvSpPr>
            <a:spLocks noGrp="1"/>
          </p:cNvSpPr>
          <p:nvPr>
            <p:ph type="title"/>
          </p:nvPr>
        </p:nvSpPr>
        <p:spPr>
          <a:xfrm>
            <a:off x="1141412" y="58223"/>
            <a:ext cx="9905998" cy="1008576"/>
          </a:xfrm>
        </p:spPr>
        <p:txBody>
          <a:bodyPr>
            <a:normAutofit fontScale="90000"/>
          </a:bodyPr>
          <a:lstStyle/>
          <a:p>
            <a:r>
              <a:rPr lang="en-US" dirty="0"/>
              <a:t>Definition of key terms</a:t>
            </a:r>
            <a:br>
              <a:rPr lang="en-US" dirty="0"/>
            </a:br>
            <a:endParaRPr lang="en-US" dirty="0"/>
          </a:p>
        </p:txBody>
      </p:sp>
      <p:sp>
        <p:nvSpPr>
          <p:cNvPr id="3" name="Content Placeholder 2">
            <a:extLst>
              <a:ext uri="{FF2B5EF4-FFF2-40B4-BE49-F238E27FC236}">
                <a16:creationId xmlns:a16="http://schemas.microsoft.com/office/drawing/2014/main" id="{2DF8C211-3FEB-FCCF-908C-08DDB7FC55D8}"/>
              </a:ext>
            </a:extLst>
          </p:cNvPr>
          <p:cNvSpPr>
            <a:spLocks noGrp="1"/>
          </p:cNvSpPr>
          <p:nvPr>
            <p:ph idx="1"/>
          </p:nvPr>
        </p:nvSpPr>
        <p:spPr>
          <a:xfrm>
            <a:off x="1141412" y="766482"/>
            <a:ext cx="9905999" cy="5916706"/>
          </a:xfrm>
        </p:spPr>
        <p:txBody>
          <a:bodyPr/>
          <a:lstStyle/>
          <a:p>
            <a:pPr marL="0" indent="0">
              <a:buNone/>
            </a:pPr>
            <a:r>
              <a:rPr lang="en-US" dirty="0"/>
              <a:t>Flash Learning</a:t>
            </a:r>
          </a:p>
          <a:p>
            <a:r>
              <a:rPr lang="en-US" dirty="0"/>
              <a:t>This refers to a short-term, surface-level acquisition of knowledge that happens quickly (often just enough to pass exams or assignments) but lacks depth and reinforcement. Because it’s not consistently applied or practiced, the learning doesn’t “stick “students remember concepts briefly but forget them soon after.</a:t>
            </a:r>
          </a:p>
          <a:p>
            <a:pPr marL="0" indent="0">
              <a:buNone/>
            </a:pPr>
            <a:r>
              <a:rPr lang="en-US" dirty="0"/>
              <a:t>Rapid Skill Atrophy</a:t>
            </a:r>
          </a:p>
          <a:p>
            <a:r>
              <a:rPr lang="en-US" dirty="0"/>
              <a:t>This is the fast decline or loss of practical ability when skills aren’t used regularly. For example, coding in Java during a module but never revisiting it afterward leads to diminished confidence and competence. Over time, the skill deteriorates to the point where students feel like they’re starting from scratch when they need it again.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37582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54E7A-EC47-CA67-D3A1-AC1F93B8C87A}"/>
              </a:ext>
            </a:extLst>
          </p:cNvPr>
          <p:cNvSpPr>
            <a:spLocks noGrp="1"/>
          </p:cNvSpPr>
          <p:nvPr>
            <p:ph type="title"/>
          </p:nvPr>
        </p:nvSpPr>
        <p:spPr>
          <a:xfrm>
            <a:off x="1143001" y="147917"/>
            <a:ext cx="10609728" cy="1317812"/>
          </a:xfrm>
        </p:spPr>
        <p:txBody>
          <a:bodyPr>
            <a:normAutofit fontScale="90000"/>
          </a:bodyPr>
          <a:lstStyle/>
          <a:p>
            <a:r>
              <a:rPr lang="en-US" dirty="0"/>
              <a:t>This environment creates several critical challenges:</a:t>
            </a:r>
            <a:br>
              <a:rPr lang="en-US" dirty="0"/>
            </a:br>
            <a:endParaRPr lang="en-US" dirty="0"/>
          </a:p>
        </p:txBody>
      </p:sp>
      <p:sp>
        <p:nvSpPr>
          <p:cNvPr id="3" name="Content Placeholder 2">
            <a:extLst>
              <a:ext uri="{FF2B5EF4-FFF2-40B4-BE49-F238E27FC236}">
                <a16:creationId xmlns:a16="http://schemas.microsoft.com/office/drawing/2014/main" id="{8D961848-1650-1470-B586-E29724C97B60}"/>
              </a:ext>
            </a:extLst>
          </p:cNvPr>
          <p:cNvSpPr>
            <a:spLocks noGrp="1"/>
          </p:cNvSpPr>
          <p:nvPr>
            <p:ph idx="1"/>
          </p:nvPr>
        </p:nvSpPr>
        <p:spPr>
          <a:xfrm>
            <a:off x="1141412" y="1828799"/>
            <a:ext cx="9905999" cy="3962401"/>
          </a:xfrm>
        </p:spPr>
        <p:txBody>
          <a:bodyPr/>
          <a:lstStyle/>
          <a:p>
            <a:pPr lvl="0"/>
            <a:r>
              <a:rPr lang="en-US" b="1" dirty="0"/>
              <a:t>Skill decay</a:t>
            </a:r>
            <a:r>
              <a:rPr lang="en-US" dirty="0"/>
              <a:t>: Knowledge fades quickly without continuous practice or project application.</a:t>
            </a:r>
          </a:p>
          <a:p>
            <a:pPr lvl="0"/>
            <a:r>
              <a:rPr lang="en-US" b="1" dirty="0"/>
              <a:t>Lack of tangible outputs</a:t>
            </a:r>
            <a:r>
              <a:rPr lang="en-US" dirty="0"/>
              <a:t>: Most students have not built meaningful projects using the skills learned, leaving them without portfolios to showcase.</a:t>
            </a:r>
          </a:p>
          <a:p>
            <a:pPr lvl="0"/>
            <a:r>
              <a:rPr lang="en-US" b="1" dirty="0"/>
              <a:t>Delayed innovation</a:t>
            </a:r>
            <a:r>
              <a:rPr lang="en-US" dirty="0"/>
              <a:t>: Students typically only build something during group projects, dissertations, or after industry exposure, missing opportunities to innovate earlier.</a:t>
            </a:r>
          </a:p>
          <a:p>
            <a:pPr marL="0" indent="0">
              <a:buNone/>
            </a:pPr>
            <a:endParaRPr lang="en-US" dirty="0"/>
          </a:p>
        </p:txBody>
      </p:sp>
    </p:spTree>
    <p:extLst>
      <p:ext uri="{BB962C8B-B14F-4D97-AF65-F5344CB8AC3E}">
        <p14:creationId xmlns:p14="http://schemas.microsoft.com/office/powerpoint/2010/main" val="405470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1DED5-CB79-D988-40D3-0C0B58233F85}"/>
              </a:ext>
            </a:extLst>
          </p:cNvPr>
          <p:cNvSpPr>
            <a:spLocks noGrp="1"/>
          </p:cNvSpPr>
          <p:nvPr>
            <p:ph type="title"/>
          </p:nvPr>
        </p:nvSpPr>
        <p:spPr>
          <a:xfrm>
            <a:off x="1141412" y="0"/>
            <a:ext cx="9905998" cy="1089258"/>
          </a:xfrm>
        </p:spPr>
        <p:txBody>
          <a:bodyPr/>
          <a:lstStyle/>
          <a:p>
            <a:r>
              <a:rPr lang="en-US" dirty="0"/>
              <a:t>Continuation</a:t>
            </a:r>
          </a:p>
        </p:txBody>
      </p:sp>
      <p:sp>
        <p:nvSpPr>
          <p:cNvPr id="3" name="Content Placeholder 2">
            <a:extLst>
              <a:ext uri="{FF2B5EF4-FFF2-40B4-BE49-F238E27FC236}">
                <a16:creationId xmlns:a16="http://schemas.microsoft.com/office/drawing/2014/main" id="{76DD9A09-2129-38A1-71A4-8B1EAE01F8A1}"/>
              </a:ext>
            </a:extLst>
          </p:cNvPr>
          <p:cNvSpPr>
            <a:spLocks noGrp="1"/>
          </p:cNvSpPr>
          <p:nvPr>
            <p:ph idx="1"/>
          </p:nvPr>
        </p:nvSpPr>
        <p:spPr>
          <a:xfrm>
            <a:off x="1141412" y="1613648"/>
            <a:ext cx="9905999" cy="4639234"/>
          </a:xfrm>
        </p:spPr>
        <p:txBody>
          <a:bodyPr/>
          <a:lstStyle/>
          <a:p>
            <a:pPr lvl="0"/>
            <a:r>
              <a:rPr lang="en-US" b="1" dirty="0"/>
              <a:t>Weak industry preparedness</a:t>
            </a:r>
            <a:r>
              <a:rPr lang="en-US" dirty="0"/>
              <a:t>: Graduates struggle to demonstrate practical competence, as academic learning remains largely theoretical.</a:t>
            </a:r>
          </a:p>
          <a:p>
            <a:pPr lvl="0"/>
            <a:r>
              <a:rPr lang="en-US" b="1" dirty="0"/>
              <a:t>Limited collaboration</a:t>
            </a:r>
            <a:r>
              <a:rPr lang="en-US" dirty="0"/>
              <a:t>: Current methods of teamwork (social media groups, emails) are ineffective and disorganized, restricting interdisciplinary knowledge sharing.</a:t>
            </a:r>
          </a:p>
          <a:p>
            <a:pPr marL="0" indent="0">
              <a:buNone/>
            </a:pPr>
            <a:r>
              <a:rPr lang="en-US" dirty="0"/>
              <a:t>As a result, students are inadequately prepared for real-world problem solving, entrepreneurial opportunities, and industry expectations.</a:t>
            </a:r>
          </a:p>
          <a:p>
            <a:endParaRPr lang="en-US" dirty="0"/>
          </a:p>
        </p:txBody>
      </p:sp>
    </p:spTree>
    <p:extLst>
      <p:ext uri="{BB962C8B-B14F-4D97-AF65-F5344CB8AC3E}">
        <p14:creationId xmlns:p14="http://schemas.microsoft.com/office/powerpoint/2010/main" val="2881916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2E2E1-DFE3-35EA-DF43-B66C00F7FE6C}"/>
              </a:ext>
            </a:extLst>
          </p:cNvPr>
          <p:cNvSpPr>
            <a:spLocks noGrp="1"/>
          </p:cNvSpPr>
          <p:nvPr>
            <p:ph type="title"/>
          </p:nvPr>
        </p:nvSpPr>
        <p:spPr>
          <a:xfrm>
            <a:off x="1141412" y="336176"/>
            <a:ext cx="9905998" cy="1030289"/>
          </a:xfrm>
        </p:spPr>
        <p:txBody>
          <a:bodyPr/>
          <a:lstStyle/>
          <a:p>
            <a:r>
              <a:rPr lang="en-US" dirty="0"/>
              <a:t>Introduction</a:t>
            </a:r>
          </a:p>
        </p:txBody>
      </p:sp>
      <p:sp>
        <p:nvSpPr>
          <p:cNvPr id="3" name="Content Placeholder 2">
            <a:extLst>
              <a:ext uri="{FF2B5EF4-FFF2-40B4-BE49-F238E27FC236}">
                <a16:creationId xmlns:a16="http://schemas.microsoft.com/office/drawing/2014/main" id="{569D56BA-B6FE-B9B7-1025-4A77E3433288}"/>
              </a:ext>
            </a:extLst>
          </p:cNvPr>
          <p:cNvSpPr>
            <a:spLocks noGrp="1"/>
          </p:cNvSpPr>
          <p:nvPr>
            <p:ph idx="1"/>
          </p:nvPr>
        </p:nvSpPr>
        <p:spPr>
          <a:xfrm>
            <a:off x="1141412" y="1721223"/>
            <a:ext cx="9905999" cy="4069977"/>
          </a:xfrm>
        </p:spPr>
        <p:txBody>
          <a:bodyPr/>
          <a:lstStyle/>
          <a:p>
            <a:r>
              <a:rPr lang="en-US" dirty="0"/>
              <a:t>Lupane State University is full of brilliant ideas that too often "die on Friday afternoons". Under the current modular system, a student may learn a programming language or a technical skill like database systems in just seven days, only to see that knowledge fade once or she has written an end of semester exam. </a:t>
            </a:r>
          </a:p>
          <a:p>
            <a:pPr marL="0" indent="0">
              <a:buNone/>
            </a:pPr>
            <a:endParaRPr lang="en-US" dirty="0"/>
          </a:p>
          <a:p>
            <a:r>
              <a:rPr lang="en-US" dirty="0"/>
              <a:t>NB: This creates a cycle of </a:t>
            </a:r>
            <a:r>
              <a:rPr lang="en-US" b="1" dirty="0"/>
              <a:t>Flash Learning and Skill Atrophy</a:t>
            </a:r>
            <a:r>
              <a:rPr lang="en-US" dirty="0"/>
              <a:t>, where high grades can mask a lack of practical, real-world capability.</a:t>
            </a:r>
          </a:p>
          <a:p>
            <a:pPr marL="0" indent="0">
              <a:buNone/>
            </a:pPr>
            <a:endParaRPr lang="en-US" dirty="0"/>
          </a:p>
        </p:txBody>
      </p:sp>
    </p:spTree>
    <p:extLst>
      <p:ext uri="{BB962C8B-B14F-4D97-AF65-F5344CB8AC3E}">
        <p14:creationId xmlns:p14="http://schemas.microsoft.com/office/powerpoint/2010/main" val="3831225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02521-0151-8A63-0F16-9EFD31EA79D7}"/>
              </a:ext>
            </a:extLst>
          </p:cNvPr>
          <p:cNvSpPr>
            <a:spLocks noGrp="1"/>
          </p:cNvSpPr>
          <p:nvPr>
            <p:ph type="title"/>
          </p:nvPr>
        </p:nvSpPr>
        <p:spPr>
          <a:xfrm>
            <a:off x="1143001" y="-143483"/>
            <a:ext cx="9905998" cy="1210282"/>
          </a:xfrm>
        </p:spPr>
        <p:txBody>
          <a:bodyPr/>
          <a:lstStyle/>
          <a:p>
            <a:r>
              <a:rPr lang="en-US" dirty="0"/>
              <a:t>Continuation</a:t>
            </a:r>
          </a:p>
        </p:txBody>
      </p:sp>
      <p:sp>
        <p:nvSpPr>
          <p:cNvPr id="3" name="Content Placeholder 2">
            <a:extLst>
              <a:ext uri="{FF2B5EF4-FFF2-40B4-BE49-F238E27FC236}">
                <a16:creationId xmlns:a16="http://schemas.microsoft.com/office/drawing/2014/main" id="{7160261B-B8B0-0293-34F6-2E65CFDA7759}"/>
              </a:ext>
            </a:extLst>
          </p:cNvPr>
          <p:cNvSpPr>
            <a:spLocks noGrp="1"/>
          </p:cNvSpPr>
          <p:nvPr>
            <p:ph idx="1"/>
          </p:nvPr>
        </p:nvSpPr>
        <p:spPr>
          <a:xfrm>
            <a:off x="1141412" y="1066798"/>
            <a:ext cx="9905999" cy="5132295"/>
          </a:xfrm>
        </p:spPr>
        <p:txBody>
          <a:bodyPr>
            <a:normAutofit lnSpcReduction="10000"/>
          </a:bodyPr>
          <a:lstStyle/>
          <a:p>
            <a:r>
              <a:rPr lang="en-US" dirty="0"/>
              <a:t>The </a:t>
            </a:r>
            <a:r>
              <a:rPr lang="en-US" b="1" dirty="0"/>
              <a:t>Innovation Hub</a:t>
            </a:r>
            <a:r>
              <a:rPr lang="en-US" dirty="0"/>
              <a:t> is designed to break this cycle. It is an inclusive, university-wide digital ecosystem built to harness the collective intelligence of the entire LSU community. By bridging diverse faculties from Humanities, Agriculture, and Commerce to Engineering, the platform closes the critical gap between academic theory and industry-ready problem solving.</a:t>
            </a:r>
          </a:p>
          <a:p>
            <a:pPr marL="0" indent="0">
              <a:buNone/>
            </a:pPr>
            <a:endParaRPr lang="en-US" dirty="0"/>
          </a:p>
          <a:p>
            <a:r>
              <a:rPr lang="en-US" dirty="0"/>
              <a:t>By dismantling departmental silos, the Innovation Hub provides a continuous, high-energy space for the practical application of classroom skills. Here, knowledge is reinforced, interdisciplinary teams are formed, and innovation is allowed to thrive long after the exam hall doors have closed extending into students' free time, weekends, and even holidays</a:t>
            </a:r>
          </a:p>
          <a:p>
            <a:pPr marL="0" indent="0">
              <a:buNone/>
            </a:pPr>
            <a:endParaRPr lang="en-US" dirty="0"/>
          </a:p>
        </p:txBody>
      </p:sp>
    </p:spTree>
    <p:extLst>
      <p:ext uri="{BB962C8B-B14F-4D97-AF65-F5344CB8AC3E}">
        <p14:creationId xmlns:p14="http://schemas.microsoft.com/office/powerpoint/2010/main" val="2388224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9AA59-7DA8-E39E-E39F-DE0453DC2654}"/>
              </a:ext>
            </a:extLst>
          </p:cNvPr>
          <p:cNvSpPr>
            <a:spLocks noGrp="1"/>
          </p:cNvSpPr>
          <p:nvPr>
            <p:ph type="title"/>
          </p:nvPr>
        </p:nvSpPr>
        <p:spPr>
          <a:xfrm>
            <a:off x="1141412" y="0"/>
            <a:ext cx="9905998" cy="820269"/>
          </a:xfrm>
        </p:spPr>
        <p:txBody>
          <a:bodyPr/>
          <a:lstStyle/>
          <a:p>
            <a:r>
              <a:rPr lang="en-US" dirty="0"/>
              <a:t>Research objectives</a:t>
            </a:r>
          </a:p>
        </p:txBody>
      </p:sp>
      <p:sp>
        <p:nvSpPr>
          <p:cNvPr id="3" name="Content Placeholder 2">
            <a:extLst>
              <a:ext uri="{FF2B5EF4-FFF2-40B4-BE49-F238E27FC236}">
                <a16:creationId xmlns:a16="http://schemas.microsoft.com/office/drawing/2014/main" id="{E40973E5-C420-C626-2D88-5E277E0B45BC}"/>
              </a:ext>
            </a:extLst>
          </p:cNvPr>
          <p:cNvSpPr>
            <a:spLocks noGrp="1"/>
          </p:cNvSpPr>
          <p:nvPr>
            <p:ph idx="1"/>
          </p:nvPr>
        </p:nvSpPr>
        <p:spPr>
          <a:xfrm>
            <a:off x="1141412" y="1075765"/>
            <a:ext cx="9905999" cy="5190564"/>
          </a:xfrm>
        </p:spPr>
        <p:txBody>
          <a:bodyPr>
            <a:normAutofit fontScale="92500" lnSpcReduction="10000"/>
          </a:bodyPr>
          <a:lstStyle/>
          <a:p>
            <a:pPr marL="0" indent="0" algn="just">
              <a:buNone/>
            </a:pPr>
            <a:r>
              <a:rPr lang="en-US" dirty="0"/>
              <a:t>This study aims to design, develop, and evaluate the Innovation Hub platform with the following specific objectives:</a:t>
            </a:r>
          </a:p>
          <a:p>
            <a:pPr algn="just"/>
            <a:endParaRPr lang="en-US" dirty="0"/>
          </a:p>
          <a:p>
            <a:pPr marL="0" indent="0" algn="just">
              <a:buNone/>
            </a:pPr>
            <a:r>
              <a:rPr lang="en-US" dirty="0"/>
              <a:t>1.	To design and develop a user-centered digital platform that enables students 	to create, share, and collaboratively work on interdisciplinary projects, 	effectively bridging the gap between theoretical coursework and practical 	application.</a:t>
            </a:r>
          </a:p>
          <a:p>
            <a:pPr marL="0" indent="0" algn="just">
              <a:buNone/>
            </a:pPr>
            <a:endParaRPr lang="en-US" dirty="0"/>
          </a:p>
          <a:p>
            <a:pPr marL="0" indent="0" algn="just">
              <a:buNone/>
            </a:pPr>
            <a:r>
              <a:rPr lang="en-US" dirty="0"/>
              <a:t>2.	To foster a sustainable community of innovators among students from diverse 	faculties (e.g., Engineering, Commerce, Agriculture) by encouraging 	interdisciplinary collaboration, knowledge sharing, and peer-to-peer learning 	through integrated platform features.</a:t>
            </a:r>
          </a:p>
          <a:p>
            <a:pPr marL="0" indent="0" algn="just">
              <a:buNone/>
            </a:pPr>
            <a:endParaRPr lang="en-US" dirty="0"/>
          </a:p>
        </p:txBody>
      </p:sp>
    </p:spTree>
    <p:extLst>
      <p:ext uri="{BB962C8B-B14F-4D97-AF65-F5344CB8AC3E}">
        <p14:creationId xmlns:p14="http://schemas.microsoft.com/office/powerpoint/2010/main" val="3792212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D3CEA-5E9A-2929-6A22-FA3F9E087934}"/>
              </a:ext>
            </a:extLst>
          </p:cNvPr>
          <p:cNvSpPr>
            <a:spLocks noGrp="1"/>
          </p:cNvSpPr>
          <p:nvPr>
            <p:ph type="title"/>
          </p:nvPr>
        </p:nvSpPr>
        <p:spPr>
          <a:xfrm>
            <a:off x="1141412" y="134424"/>
            <a:ext cx="9905998" cy="1183388"/>
          </a:xfrm>
        </p:spPr>
        <p:txBody>
          <a:bodyPr/>
          <a:lstStyle/>
          <a:p>
            <a:r>
              <a:rPr lang="en-US" dirty="0"/>
              <a:t>continuation</a:t>
            </a:r>
          </a:p>
        </p:txBody>
      </p:sp>
      <p:sp>
        <p:nvSpPr>
          <p:cNvPr id="3" name="Content Placeholder 2">
            <a:extLst>
              <a:ext uri="{FF2B5EF4-FFF2-40B4-BE49-F238E27FC236}">
                <a16:creationId xmlns:a16="http://schemas.microsoft.com/office/drawing/2014/main" id="{00D50CD3-78B3-3FEC-C635-E0A4D50A51D0}"/>
              </a:ext>
            </a:extLst>
          </p:cNvPr>
          <p:cNvSpPr>
            <a:spLocks noGrp="1"/>
          </p:cNvSpPr>
          <p:nvPr>
            <p:ph idx="1"/>
          </p:nvPr>
        </p:nvSpPr>
        <p:spPr>
          <a:xfrm>
            <a:off x="1141412" y="1223682"/>
            <a:ext cx="9905999" cy="5499894"/>
          </a:xfrm>
        </p:spPr>
        <p:txBody>
          <a:bodyPr>
            <a:normAutofit lnSpcReduction="10000"/>
          </a:bodyPr>
          <a:lstStyle/>
          <a:p>
            <a:pPr marL="0" indent="0">
              <a:buNone/>
            </a:pPr>
            <a:r>
              <a:rPr lang="en-US" dirty="0"/>
              <a:t>3.	To create a dynamic showcase for student work that allows individuals 	and teams to build a tangible "proof of work" or portfolio, thereby 	improving their visibility, industry preparedness, and employability upon 	graduation.</a:t>
            </a:r>
          </a:p>
          <a:p>
            <a:pPr marL="0" indent="0">
              <a:buNone/>
            </a:pPr>
            <a:r>
              <a:rPr lang="en-US" dirty="0"/>
              <a:t>4.	To evaluate the platform's effectiveness in mitigating "flash learning" 	and "rapid skill atrophy" by providing a continuous, long-term 	environment for skills application and reinforcement outside of formal 	module timelines.</a:t>
            </a:r>
          </a:p>
          <a:p>
            <a:pPr marL="0" indent="0">
              <a:buNone/>
            </a:pPr>
            <a:r>
              <a:rPr lang="en-US" dirty="0"/>
              <a:t>5.	To assess the impact of the Innovation Hub on fostering an 	entrepreneurial mindset among students, including the potential for 	project commercialization, startup creation, and the development of 	intellectual property.</a:t>
            </a:r>
          </a:p>
          <a:p>
            <a:pPr marL="0" indent="0">
              <a:buNone/>
            </a:pPr>
            <a:endParaRPr lang="en-US" dirty="0"/>
          </a:p>
        </p:txBody>
      </p:sp>
    </p:spTree>
    <p:extLst>
      <p:ext uri="{BB962C8B-B14F-4D97-AF65-F5344CB8AC3E}">
        <p14:creationId xmlns:p14="http://schemas.microsoft.com/office/powerpoint/2010/main" val="89553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3E3B67-71F5-A3D6-0AE9-C6E42CB28AE1}"/>
              </a:ext>
            </a:extLst>
          </p:cNvPr>
          <p:cNvSpPr>
            <a:spLocks noGrp="1"/>
          </p:cNvSpPr>
          <p:nvPr>
            <p:ph idx="1"/>
          </p:nvPr>
        </p:nvSpPr>
        <p:spPr>
          <a:xfrm>
            <a:off x="1141412" y="1264024"/>
            <a:ext cx="9905999" cy="5177117"/>
          </a:xfrm>
        </p:spPr>
        <p:txBody>
          <a:bodyPr/>
          <a:lstStyle/>
          <a:p>
            <a:pPr marL="0" indent="0">
              <a:buNone/>
            </a:pPr>
            <a:r>
              <a:rPr lang="en-US" dirty="0"/>
              <a:t>6.	To analyze the platform's role in improving collaboration and 	communication by replacing disorganized methods (like social media) 	with a structured system for team formation, project management, and 	resource sharing.</a:t>
            </a:r>
          </a:p>
          <a:p>
            <a:endParaRPr lang="en-US" dirty="0"/>
          </a:p>
          <a:p>
            <a:pPr marL="0" indent="0">
              <a:buNone/>
            </a:pPr>
            <a:r>
              <a:rPr lang="en-US" dirty="0"/>
              <a:t>7.	To investigate the potential of the Innovation Hub as a tool for 	institutional growth, including its capacity to generate revenue, attract 	industry partnerships, inform data-driven curriculum improvements, and 	enhance the university's overall research output and reputation.</a:t>
            </a:r>
          </a:p>
          <a:p>
            <a:pPr marL="0" indent="0">
              <a:buNone/>
            </a:pPr>
            <a:endParaRPr lang="en-US" dirty="0"/>
          </a:p>
        </p:txBody>
      </p:sp>
    </p:spTree>
    <p:extLst>
      <p:ext uri="{BB962C8B-B14F-4D97-AF65-F5344CB8AC3E}">
        <p14:creationId xmlns:p14="http://schemas.microsoft.com/office/powerpoint/2010/main" val="506134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DCADB-BE8C-D71F-56CB-570B84B93D10}"/>
              </a:ext>
            </a:extLst>
          </p:cNvPr>
          <p:cNvSpPr>
            <a:spLocks noGrp="1"/>
          </p:cNvSpPr>
          <p:nvPr>
            <p:ph type="title"/>
          </p:nvPr>
        </p:nvSpPr>
        <p:spPr>
          <a:xfrm>
            <a:off x="1141413" y="188260"/>
            <a:ext cx="9905998" cy="1226204"/>
          </a:xfrm>
        </p:spPr>
        <p:txBody>
          <a:bodyPr/>
          <a:lstStyle/>
          <a:p>
            <a:r>
              <a:rPr lang="en-US" dirty="0"/>
              <a:t>Core features</a:t>
            </a:r>
          </a:p>
        </p:txBody>
      </p:sp>
      <p:sp>
        <p:nvSpPr>
          <p:cNvPr id="3" name="Content Placeholder 2">
            <a:extLst>
              <a:ext uri="{FF2B5EF4-FFF2-40B4-BE49-F238E27FC236}">
                <a16:creationId xmlns:a16="http://schemas.microsoft.com/office/drawing/2014/main" id="{76123B16-F48B-64A2-2DEA-BB7E17E651B9}"/>
              </a:ext>
            </a:extLst>
          </p:cNvPr>
          <p:cNvSpPr>
            <a:spLocks noGrp="1"/>
          </p:cNvSpPr>
          <p:nvPr>
            <p:ph idx="1"/>
          </p:nvPr>
        </p:nvSpPr>
        <p:spPr>
          <a:xfrm>
            <a:off x="838200" y="1414464"/>
            <a:ext cx="10515600" cy="5107359"/>
          </a:xfrm>
        </p:spPr>
        <p:txBody>
          <a:bodyPr>
            <a:noAutofit/>
          </a:bodyPr>
          <a:lstStyle/>
          <a:p>
            <a:pPr marL="514350" indent="-514350">
              <a:buFont typeface="+mj-lt"/>
              <a:buAutoNum type="arabicPeriod"/>
            </a:pPr>
            <a:r>
              <a:rPr lang="en-US" dirty="0">
                <a:latin typeface="Tw Cen MT (Body)"/>
                <a:cs typeface="Times New Roman" panose="02020603050405020304" pitchFamily="18" charset="0"/>
              </a:rPr>
              <a:t>Project creation: Users can create project ideas, add descriptions and specify required skills </a:t>
            </a:r>
          </a:p>
          <a:p>
            <a:pPr marL="514350" indent="-514350">
              <a:buFont typeface="+mj-lt"/>
              <a:buAutoNum type="arabicPeriod"/>
            </a:pPr>
            <a:r>
              <a:rPr lang="en-US" dirty="0">
                <a:latin typeface="Tw Cen MT (Body)"/>
                <a:cs typeface="Times New Roman" panose="02020603050405020304" pitchFamily="18" charset="0"/>
              </a:rPr>
              <a:t>Team building: Users can apply to join projects and project owners can review and approve/ deny applications </a:t>
            </a:r>
          </a:p>
          <a:p>
            <a:pPr marL="514350" indent="-514350">
              <a:buFont typeface="+mj-lt"/>
              <a:buAutoNum type="arabicPeriod"/>
            </a:pPr>
            <a:r>
              <a:rPr lang="en-US" dirty="0">
                <a:latin typeface="Tw Cen MT (Body)"/>
                <a:cs typeface="Times New Roman" panose="02020603050405020304" pitchFamily="18" charset="0"/>
              </a:rPr>
              <a:t>Skills matching: Students can showcase skills and interests, making it easier for project owners to find the right team members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Project showcase: A directory of active projects, allowing students to browse and join projects that interest them </a:t>
            </a:r>
          </a:p>
          <a:p>
            <a:pPr marL="514350" indent="-514350">
              <a:buFont typeface="+mj-lt"/>
              <a:buAutoNum type="arabicPeriod"/>
            </a:pPr>
            <a:endParaRPr lang="en-US" dirty="0">
              <a:latin typeface="Tw Cen MT (Body)"/>
              <a:cs typeface="Times New Roman" panose="02020603050405020304" pitchFamily="18" charset="0"/>
            </a:endParaRPr>
          </a:p>
          <a:p>
            <a:pPr marL="514350" indent="-514350">
              <a:buFont typeface="+mj-lt"/>
              <a:buAutoNum type="arabicPeriod"/>
            </a:pPr>
            <a:endParaRPr lang="en-US" dirty="0">
              <a:latin typeface="Tw Cen MT (Body)"/>
              <a:cs typeface="Times New Roman" panose="02020603050405020304" pitchFamily="18" charset="0"/>
            </a:endParaRPr>
          </a:p>
        </p:txBody>
      </p:sp>
    </p:spTree>
    <p:extLst>
      <p:ext uri="{BB962C8B-B14F-4D97-AF65-F5344CB8AC3E}">
        <p14:creationId xmlns:p14="http://schemas.microsoft.com/office/powerpoint/2010/main" val="1912650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597C9-CAE9-83F9-F892-1E0B187582DE}"/>
              </a:ext>
            </a:extLst>
          </p:cNvPr>
          <p:cNvSpPr>
            <a:spLocks noGrp="1"/>
          </p:cNvSpPr>
          <p:nvPr>
            <p:ph type="title"/>
          </p:nvPr>
        </p:nvSpPr>
        <p:spPr>
          <a:xfrm>
            <a:off x="1141412" y="152352"/>
            <a:ext cx="9905998" cy="914447"/>
          </a:xfrm>
        </p:spPr>
        <p:txBody>
          <a:bodyPr/>
          <a:lstStyle/>
          <a:p>
            <a:r>
              <a:rPr lang="en-US" dirty="0"/>
              <a:t>Continuation</a:t>
            </a:r>
          </a:p>
        </p:txBody>
      </p:sp>
      <p:sp>
        <p:nvSpPr>
          <p:cNvPr id="3" name="Content Placeholder 2">
            <a:extLst>
              <a:ext uri="{FF2B5EF4-FFF2-40B4-BE49-F238E27FC236}">
                <a16:creationId xmlns:a16="http://schemas.microsoft.com/office/drawing/2014/main" id="{4787212C-3B5D-CDBE-2479-FD098B9CA953}"/>
              </a:ext>
            </a:extLst>
          </p:cNvPr>
          <p:cNvSpPr>
            <a:spLocks noGrp="1"/>
          </p:cNvSpPr>
          <p:nvPr>
            <p:ph idx="1"/>
          </p:nvPr>
        </p:nvSpPr>
        <p:spPr>
          <a:xfrm>
            <a:off x="1141412" y="1828800"/>
            <a:ext cx="9905999" cy="3962401"/>
          </a:xfrm>
        </p:spPr>
        <p:txBody>
          <a:bodyPr>
            <a:normAutofit/>
          </a:bodyPr>
          <a:lstStyle/>
          <a:p>
            <a:pPr marL="0" indent="0">
              <a:buNone/>
            </a:pPr>
            <a:r>
              <a:rPr lang="en-US" dirty="0">
                <a:latin typeface="Tw Cen MT (Headings)"/>
                <a:cs typeface="Times New Roman" panose="02020603050405020304" pitchFamily="18" charset="0"/>
              </a:rPr>
              <a:t>5.	Discussion Forum: A space for team members to discuss project progress, 	ask questions and share resources </a:t>
            </a:r>
          </a:p>
          <a:p>
            <a:pPr marL="0" indent="0">
              <a:buNone/>
            </a:pPr>
            <a:r>
              <a:rPr lang="en-US" dirty="0">
                <a:latin typeface="Tw Cen MT (Headings)"/>
                <a:cs typeface="Times New Roman" panose="02020603050405020304" pitchFamily="18" charset="0"/>
              </a:rPr>
              <a:t>6.	Project registration: Admins can register student projects, assigning a 	unique identifier and time stamp to prevent idea theft and ensure 	originality </a:t>
            </a:r>
          </a:p>
          <a:p>
            <a:pPr marL="0" indent="0">
              <a:buNone/>
            </a:pPr>
            <a:r>
              <a:rPr lang="en-US" dirty="0">
                <a:latin typeface="Tw Cen MT (Headings)"/>
                <a:cs typeface="Times New Roman" panose="02020603050405020304" pitchFamily="18" charset="0"/>
              </a:rPr>
              <a:t>7.	Notification system </a:t>
            </a:r>
          </a:p>
          <a:p>
            <a:endParaRPr lang="en-US" dirty="0">
              <a:latin typeface="Tw Cen MT (Headings)"/>
            </a:endParaRPr>
          </a:p>
        </p:txBody>
      </p:sp>
    </p:spTree>
    <p:extLst>
      <p:ext uri="{BB962C8B-B14F-4D97-AF65-F5344CB8AC3E}">
        <p14:creationId xmlns:p14="http://schemas.microsoft.com/office/powerpoint/2010/main" val="1824006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285B2-A5D0-50EA-F7D8-4AE8ED6FC9BA}"/>
              </a:ext>
            </a:extLst>
          </p:cNvPr>
          <p:cNvSpPr>
            <a:spLocks noGrp="1"/>
          </p:cNvSpPr>
          <p:nvPr>
            <p:ph type="title"/>
          </p:nvPr>
        </p:nvSpPr>
        <p:spPr/>
        <p:txBody>
          <a:bodyPr/>
          <a:lstStyle/>
          <a:p>
            <a:r>
              <a:rPr lang="en-US" dirty="0"/>
              <a:t>How this system will work</a:t>
            </a:r>
          </a:p>
        </p:txBody>
      </p:sp>
      <p:sp>
        <p:nvSpPr>
          <p:cNvPr id="3" name="Content Placeholder 2">
            <a:extLst>
              <a:ext uri="{FF2B5EF4-FFF2-40B4-BE49-F238E27FC236}">
                <a16:creationId xmlns:a16="http://schemas.microsoft.com/office/drawing/2014/main" id="{A0046F7D-DB92-6F3E-D77D-23E6625BEAAC}"/>
              </a:ext>
            </a:extLst>
          </p:cNvPr>
          <p:cNvSpPr>
            <a:spLocks noGrp="1"/>
          </p:cNvSpPr>
          <p:nvPr>
            <p:ph idx="1"/>
          </p:nvPr>
        </p:nvSpPr>
        <p:spPr/>
        <p:txBody>
          <a:bodyPr>
            <a:normAutofit/>
          </a:bodyPr>
          <a:lstStyle/>
          <a:p>
            <a:r>
              <a:rPr lang="en-US" sz="2400" dirty="0">
                <a:latin typeface="Tw Cen MT (Headings)"/>
                <a:cs typeface="Times New Roman" panose="02020603050405020304" pitchFamily="18" charset="0"/>
              </a:rPr>
              <a:t>Students sign-up and create profiles showcasing their skills and interests </a:t>
            </a:r>
          </a:p>
          <a:p>
            <a:r>
              <a:rPr lang="en-US" sz="2400" dirty="0">
                <a:latin typeface="Tw Cen MT (Headings)"/>
                <a:cs typeface="Times New Roman" panose="02020603050405020304" pitchFamily="18" charset="0"/>
              </a:rPr>
              <a:t>Users create projects ideas, specifying required skills and team size  </a:t>
            </a:r>
          </a:p>
          <a:p>
            <a:r>
              <a:rPr lang="en-US" sz="2400" dirty="0">
                <a:latin typeface="Tw Cen MT (Headings)"/>
                <a:cs typeface="Times New Roman" panose="02020603050405020304" pitchFamily="18" charset="0"/>
              </a:rPr>
              <a:t> Project owners can browse student profiles to find team members </a:t>
            </a:r>
          </a:p>
          <a:p>
            <a:r>
              <a:rPr lang="en-US" sz="2400" dirty="0">
                <a:latin typeface="Tw Cen MT (Headings)"/>
                <a:cs typeface="Times New Roman" panose="02020603050405020304" pitchFamily="18" charset="0"/>
              </a:rPr>
              <a:t> Students can apply to join projects or create their own teams </a:t>
            </a:r>
          </a:p>
          <a:p>
            <a:r>
              <a:rPr lang="en-US" sz="2400" dirty="0">
                <a:latin typeface="Tw Cen MT (Headings)"/>
                <a:cs typeface="Times New Roman" panose="02020603050405020304" pitchFamily="18" charset="0"/>
              </a:rPr>
              <a:t>Teams can collaborate, share resources and track progress within the platform</a:t>
            </a:r>
          </a:p>
          <a:p>
            <a:r>
              <a:rPr lang="en-US" sz="2400" dirty="0">
                <a:latin typeface="Tw Cen MT (Headings)"/>
                <a:cs typeface="Times New Roman" panose="02020603050405020304" pitchFamily="18" charset="0"/>
              </a:rPr>
              <a:t>Students submit project for registration when completed</a:t>
            </a:r>
          </a:p>
        </p:txBody>
      </p:sp>
    </p:spTree>
    <p:extLst>
      <p:ext uri="{BB962C8B-B14F-4D97-AF65-F5344CB8AC3E}">
        <p14:creationId xmlns:p14="http://schemas.microsoft.com/office/powerpoint/2010/main" val="1667356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5E05C-519C-5766-0F29-77B90C4F744D}"/>
              </a:ext>
            </a:extLst>
          </p:cNvPr>
          <p:cNvSpPr>
            <a:spLocks noGrp="1"/>
          </p:cNvSpPr>
          <p:nvPr>
            <p:ph type="title"/>
          </p:nvPr>
        </p:nvSpPr>
        <p:spPr>
          <a:xfrm>
            <a:off x="1141413" y="618518"/>
            <a:ext cx="9905998" cy="833764"/>
          </a:xfrm>
        </p:spPr>
        <p:txBody>
          <a:bodyPr/>
          <a:lstStyle/>
          <a:p>
            <a:r>
              <a:rPr lang="en-US" dirty="0"/>
              <a:t>Methodology</a:t>
            </a:r>
          </a:p>
        </p:txBody>
      </p:sp>
      <p:sp>
        <p:nvSpPr>
          <p:cNvPr id="3" name="Content Placeholder 2">
            <a:extLst>
              <a:ext uri="{FF2B5EF4-FFF2-40B4-BE49-F238E27FC236}">
                <a16:creationId xmlns:a16="http://schemas.microsoft.com/office/drawing/2014/main" id="{B6E4C5AA-E829-8A0B-0254-066699BBA354}"/>
              </a:ext>
            </a:extLst>
          </p:cNvPr>
          <p:cNvSpPr>
            <a:spLocks noGrp="1"/>
          </p:cNvSpPr>
          <p:nvPr>
            <p:ph idx="1"/>
          </p:nvPr>
        </p:nvSpPr>
        <p:spPr>
          <a:xfrm>
            <a:off x="1141412" y="1452282"/>
            <a:ext cx="9905999" cy="5230906"/>
          </a:xfrm>
        </p:spPr>
        <p:txBody>
          <a:bodyPr/>
          <a:lstStyle/>
          <a:p>
            <a:pPr marL="457200" indent="-457200">
              <a:buAutoNum type="arabicPeriod"/>
            </a:pPr>
            <a:r>
              <a:rPr lang="en-US" dirty="0"/>
              <a:t>Literature review Conduct a comprehensive review of existing collaboration platforms, identifying best practices and areas for improvement </a:t>
            </a:r>
          </a:p>
          <a:p>
            <a:pPr marL="457200" indent="-457200">
              <a:buAutoNum type="arabicPeriod"/>
            </a:pPr>
            <a:r>
              <a:rPr lang="en-US" dirty="0"/>
              <a:t>Requirements gathering Conduct surveys and focus groups with engineering students to understand their needs, preferences and pain points </a:t>
            </a:r>
          </a:p>
          <a:p>
            <a:pPr marL="457200" indent="-457200">
              <a:buAutoNum type="arabicPeriod"/>
            </a:pPr>
            <a:r>
              <a:rPr lang="en-US" dirty="0"/>
              <a:t>Platform Development Design and develop the Innovation Hub using an iterative and agile approach, incorporating feedback from students and lecturers </a:t>
            </a:r>
          </a:p>
        </p:txBody>
      </p:sp>
    </p:spTree>
    <p:extLst>
      <p:ext uri="{BB962C8B-B14F-4D97-AF65-F5344CB8AC3E}">
        <p14:creationId xmlns:p14="http://schemas.microsoft.com/office/powerpoint/2010/main" val="313836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B808-A21C-BA12-F51B-93B2B737F8B8}"/>
              </a:ext>
            </a:extLst>
          </p:cNvPr>
          <p:cNvSpPr>
            <a:spLocks noGrp="1"/>
          </p:cNvSpPr>
          <p:nvPr>
            <p:ph type="title"/>
          </p:nvPr>
        </p:nvSpPr>
        <p:spPr>
          <a:xfrm>
            <a:off x="1141412" y="744022"/>
            <a:ext cx="9905998" cy="914447"/>
          </a:xfrm>
        </p:spPr>
        <p:txBody>
          <a:bodyPr/>
          <a:lstStyle/>
          <a:p>
            <a:r>
              <a:rPr lang="en-US" dirty="0"/>
              <a:t>Innovation Hub roadmap</a:t>
            </a:r>
          </a:p>
        </p:txBody>
      </p:sp>
      <p:sp>
        <p:nvSpPr>
          <p:cNvPr id="3" name="Content Placeholder 2">
            <a:extLst>
              <a:ext uri="{FF2B5EF4-FFF2-40B4-BE49-F238E27FC236}">
                <a16:creationId xmlns:a16="http://schemas.microsoft.com/office/drawing/2014/main" id="{271E0C6D-8400-6482-634C-3A418B5E825F}"/>
              </a:ext>
            </a:extLst>
          </p:cNvPr>
          <p:cNvSpPr>
            <a:spLocks noGrp="1"/>
          </p:cNvSpPr>
          <p:nvPr>
            <p:ph idx="1"/>
          </p:nvPr>
        </p:nvSpPr>
        <p:spPr/>
        <p:txBody>
          <a:bodyPr>
            <a:normAutofit lnSpcReduction="10000"/>
          </a:bodyPr>
          <a:lstStyle/>
          <a:p>
            <a:r>
              <a:rPr lang="en-US" dirty="0"/>
              <a:t>Finalize features, goals and timelines </a:t>
            </a:r>
          </a:p>
          <a:p>
            <a:r>
              <a:rPr lang="en-US" dirty="0"/>
              <a:t>Setting up the development environment (Choose your IDE, install necessary libraries and configure the database) </a:t>
            </a:r>
          </a:p>
          <a:p>
            <a:r>
              <a:rPr lang="en-US" dirty="0"/>
              <a:t>Design the database schema </a:t>
            </a:r>
          </a:p>
          <a:p>
            <a:r>
              <a:rPr lang="en-US" dirty="0"/>
              <a:t>Build core features (user authentication, project creation and team building) </a:t>
            </a:r>
          </a:p>
          <a:p>
            <a:r>
              <a:rPr lang="en-US" dirty="0"/>
              <a:t>Test and iterate (testing each feature, gather feedback and refine the implementation) </a:t>
            </a:r>
          </a:p>
        </p:txBody>
      </p:sp>
    </p:spTree>
    <p:extLst>
      <p:ext uri="{BB962C8B-B14F-4D97-AF65-F5344CB8AC3E}">
        <p14:creationId xmlns:p14="http://schemas.microsoft.com/office/powerpoint/2010/main" val="501906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702E-D016-BA6F-330A-58C832193498}"/>
              </a:ext>
            </a:extLst>
          </p:cNvPr>
          <p:cNvSpPr>
            <a:spLocks noGrp="1"/>
          </p:cNvSpPr>
          <p:nvPr>
            <p:ph type="title"/>
          </p:nvPr>
        </p:nvSpPr>
        <p:spPr>
          <a:xfrm>
            <a:off x="1141412" y="165845"/>
            <a:ext cx="9905998" cy="1030289"/>
          </a:xfrm>
        </p:spPr>
        <p:txBody>
          <a:bodyPr/>
          <a:lstStyle/>
          <a:p>
            <a:r>
              <a:rPr lang="en-US" dirty="0"/>
              <a:t>Tools  </a:t>
            </a:r>
          </a:p>
        </p:txBody>
      </p:sp>
      <p:sp>
        <p:nvSpPr>
          <p:cNvPr id="3" name="Content Placeholder 2">
            <a:extLst>
              <a:ext uri="{FF2B5EF4-FFF2-40B4-BE49-F238E27FC236}">
                <a16:creationId xmlns:a16="http://schemas.microsoft.com/office/drawing/2014/main" id="{C5E4D99F-AC20-4220-7692-57F4D3D3578A}"/>
              </a:ext>
            </a:extLst>
          </p:cNvPr>
          <p:cNvSpPr>
            <a:spLocks noGrp="1"/>
          </p:cNvSpPr>
          <p:nvPr>
            <p:ph idx="1"/>
          </p:nvPr>
        </p:nvSpPr>
        <p:spPr>
          <a:xfrm>
            <a:off x="1141412" y="1465728"/>
            <a:ext cx="9905999" cy="5082989"/>
          </a:xfrm>
        </p:spPr>
        <p:txBody>
          <a:bodyPr>
            <a:normAutofit fontScale="92500" lnSpcReduction="10000"/>
          </a:bodyPr>
          <a:lstStyle/>
          <a:p>
            <a:pPr marL="0" indent="0">
              <a:buNone/>
            </a:pPr>
            <a:r>
              <a:rPr lang="en-US" dirty="0"/>
              <a:t>Backend (Python – Flask/Django)</a:t>
            </a:r>
          </a:p>
          <a:p>
            <a:pPr marL="0" indent="0">
              <a:buNone/>
            </a:pPr>
            <a:r>
              <a:rPr lang="en-US" dirty="0"/>
              <a:t>Python handles the logic, data management, and server-side operations:</a:t>
            </a:r>
          </a:p>
          <a:p>
            <a:pPr lvl="0"/>
            <a:r>
              <a:rPr lang="en-US" dirty="0"/>
              <a:t>User authentication (sign-up, login, password management)  </a:t>
            </a:r>
          </a:p>
          <a:p>
            <a:pPr lvl="0"/>
            <a:r>
              <a:rPr lang="en-US" dirty="0"/>
              <a:t>Project creation &amp; registration (store project details, assign unique IDs, prevent idea theft)  </a:t>
            </a:r>
          </a:p>
          <a:p>
            <a:pPr lvl="0"/>
            <a:r>
              <a:rPr lang="en-US" dirty="0"/>
              <a:t>Team building logic (approve/deny applications, manage team membership)  </a:t>
            </a:r>
          </a:p>
          <a:p>
            <a:pPr lvl="0"/>
            <a:r>
              <a:rPr lang="en-US" dirty="0"/>
              <a:t>Skills matching (query database to match students with projects)  </a:t>
            </a:r>
          </a:p>
          <a:p>
            <a:pPr marL="0" indent="0">
              <a:buNone/>
            </a:pPr>
            <a:r>
              <a:rPr lang="en-US" b="1" dirty="0"/>
              <a:t>Rule-Based/Keyword Matching (Basic):</a:t>
            </a:r>
            <a:r>
              <a:rPr lang="en-US" dirty="0"/>
              <a:t> Compares exact strings between a project's requirements and a user's profile.</a:t>
            </a:r>
          </a:p>
          <a:p>
            <a:pPr lvl="1"/>
            <a:r>
              <a:rPr lang="en-US" i="1" dirty="0"/>
              <a:t>Pros:</a:t>
            </a:r>
            <a:r>
              <a:rPr lang="en-US" dirty="0"/>
              <a:t> Easy to implement with SQL queries.</a:t>
            </a:r>
          </a:p>
          <a:p>
            <a:pPr lvl="1"/>
            <a:r>
              <a:rPr lang="en-US" i="1" dirty="0"/>
              <a:t>Cons:</a:t>
            </a:r>
            <a:r>
              <a:rPr lang="en-US" dirty="0"/>
              <a:t> Fails if a user writes "JS" but the project asks for "JavaScript."</a:t>
            </a:r>
          </a:p>
          <a:p>
            <a:pPr marL="0" lvl="0" indent="0">
              <a:buNone/>
            </a:pPr>
            <a:endParaRPr lang="en-US" dirty="0"/>
          </a:p>
          <a:p>
            <a:endParaRPr lang="en-US" dirty="0"/>
          </a:p>
        </p:txBody>
      </p:sp>
    </p:spTree>
    <p:extLst>
      <p:ext uri="{BB962C8B-B14F-4D97-AF65-F5344CB8AC3E}">
        <p14:creationId xmlns:p14="http://schemas.microsoft.com/office/powerpoint/2010/main" val="1260230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22E61D-4625-01AE-D196-008BA0FDFC28}"/>
              </a:ext>
            </a:extLst>
          </p:cNvPr>
          <p:cNvSpPr>
            <a:spLocks noGrp="1"/>
          </p:cNvSpPr>
          <p:nvPr>
            <p:ph idx="1"/>
          </p:nvPr>
        </p:nvSpPr>
        <p:spPr>
          <a:xfrm>
            <a:off x="968189" y="1855693"/>
            <a:ext cx="9905999" cy="2326341"/>
          </a:xfrm>
        </p:spPr>
        <p:txBody>
          <a:bodyPr/>
          <a:lstStyle/>
          <a:p>
            <a:pPr lvl="0"/>
            <a:r>
              <a:rPr lang="en-US" dirty="0"/>
              <a:t>Database interactions (PostgreSQL/SQLite for storing profiles, projects, discussions)  </a:t>
            </a:r>
          </a:p>
          <a:p>
            <a:pPr lvl="0"/>
            <a:r>
              <a:rPr lang="en-US" dirty="0"/>
              <a:t>Notification system backend (trigger notifications when events occur)  </a:t>
            </a:r>
          </a:p>
          <a:p>
            <a:pPr lvl="0"/>
            <a:r>
              <a:rPr lang="en-US" dirty="0"/>
              <a:t>Admin functions (register projects, manage users, oversee platform activity)  </a:t>
            </a:r>
          </a:p>
          <a:p>
            <a:pPr marL="0" indent="0">
              <a:buNone/>
            </a:pPr>
            <a:endParaRPr lang="en-US" dirty="0"/>
          </a:p>
        </p:txBody>
      </p:sp>
    </p:spTree>
    <p:extLst>
      <p:ext uri="{BB962C8B-B14F-4D97-AF65-F5344CB8AC3E}">
        <p14:creationId xmlns:p14="http://schemas.microsoft.com/office/powerpoint/2010/main" val="2636408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B70E4-9E76-42E9-4111-1007259C7025}"/>
              </a:ext>
            </a:extLst>
          </p:cNvPr>
          <p:cNvSpPr>
            <a:spLocks noGrp="1"/>
          </p:cNvSpPr>
          <p:nvPr>
            <p:ph type="title"/>
          </p:nvPr>
        </p:nvSpPr>
        <p:spPr>
          <a:xfrm>
            <a:off x="1141412" y="416859"/>
            <a:ext cx="9905998" cy="1062364"/>
          </a:xfrm>
        </p:spPr>
        <p:txBody>
          <a:bodyPr/>
          <a:lstStyle/>
          <a:p>
            <a:r>
              <a:rPr lang="en-US" dirty="0"/>
              <a:t>Frontend (HTML &amp; CSS)</a:t>
            </a:r>
          </a:p>
        </p:txBody>
      </p:sp>
      <p:sp>
        <p:nvSpPr>
          <p:cNvPr id="3" name="Content Placeholder 2">
            <a:extLst>
              <a:ext uri="{FF2B5EF4-FFF2-40B4-BE49-F238E27FC236}">
                <a16:creationId xmlns:a16="http://schemas.microsoft.com/office/drawing/2014/main" id="{29EA4198-6F49-5E4F-B0D7-4D5E9703593A}"/>
              </a:ext>
            </a:extLst>
          </p:cNvPr>
          <p:cNvSpPr>
            <a:spLocks noGrp="1"/>
          </p:cNvSpPr>
          <p:nvPr>
            <p:ph idx="1"/>
          </p:nvPr>
        </p:nvSpPr>
        <p:spPr>
          <a:xfrm>
            <a:off x="1141412" y="1815353"/>
            <a:ext cx="9905999" cy="4625788"/>
          </a:xfrm>
        </p:spPr>
        <p:txBody>
          <a:bodyPr/>
          <a:lstStyle/>
          <a:p>
            <a:pPr marL="0" indent="0">
              <a:buNone/>
            </a:pPr>
            <a:r>
              <a:rPr lang="en-US" dirty="0"/>
              <a:t>HTML and CSS define the structure and design of the platform:</a:t>
            </a:r>
          </a:p>
          <a:p>
            <a:pPr lvl="0"/>
            <a:r>
              <a:rPr lang="en-US" dirty="0"/>
              <a:t>User profiles (layout of skills, interests, and achievements)  </a:t>
            </a:r>
          </a:p>
          <a:p>
            <a:pPr lvl="0"/>
            <a:r>
              <a:rPr lang="en-US" dirty="0"/>
              <a:t>Project showcase directory (cards or lists displaying active projects)  </a:t>
            </a:r>
          </a:p>
          <a:p>
            <a:pPr lvl="0"/>
            <a:r>
              <a:rPr lang="en-US" dirty="0"/>
              <a:t>Discussion forum interface (thread layout, styling of posts and replies)  </a:t>
            </a:r>
          </a:p>
          <a:p>
            <a:pPr lvl="0"/>
            <a:r>
              <a:rPr lang="en-US" dirty="0"/>
              <a:t>Forms (project creation, team applications, profile editing)  </a:t>
            </a:r>
          </a:p>
          <a:p>
            <a:pPr lvl="0"/>
            <a:r>
              <a:rPr lang="en-US" dirty="0"/>
              <a:t>Overall UI styling (navigation bar, buttons, responsive design for mobile/desktop)  </a:t>
            </a:r>
          </a:p>
          <a:p>
            <a:pPr marL="0" indent="0">
              <a:buNone/>
            </a:pPr>
            <a:endParaRPr lang="en-US" dirty="0"/>
          </a:p>
        </p:txBody>
      </p:sp>
    </p:spTree>
    <p:extLst>
      <p:ext uri="{BB962C8B-B14F-4D97-AF65-F5344CB8AC3E}">
        <p14:creationId xmlns:p14="http://schemas.microsoft.com/office/powerpoint/2010/main" val="3217388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5FFE0-ADAD-F156-DA65-754E3559291E}"/>
              </a:ext>
            </a:extLst>
          </p:cNvPr>
          <p:cNvSpPr>
            <a:spLocks noGrp="1"/>
          </p:cNvSpPr>
          <p:nvPr>
            <p:ph type="title"/>
          </p:nvPr>
        </p:nvSpPr>
        <p:spPr>
          <a:xfrm>
            <a:off x="1141412" y="0"/>
            <a:ext cx="9905998" cy="1022023"/>
          </a:xfrm>
        </p:spPr>
        <p:txBody>
          <a:bodyPr/>
          <a:lstStyle/>
          <a:p>
            <a:r>
              <a:rPr lang="en-US" dirty="0"/>
              <a:t>Interactivity &amp; Real-Time Features (JavaScript)</a:t>
            </a:r>
          </a:p>
        </p:txBody>
      </p:sp>
      <p:sp>
        <p:nvSpPr>
          <p:cNvPr id="3" name="Content Placeholder 2">
            <a:extLst>
              <a:ext uri="{FF2B5EF4-FFF2-40B4-BE49-F238E27FC236}">
                <a16:creationId xmlns:a16="http://schemas.microsoft.com/office/drawing/2014/main" id="{BE10C976-D21A-007C-2A63-0AA8561556BB}"/>
              </a:ext>
            </a:extLst>
          </p:cNvPr>
          <p:cNvSpPr>
            <a:spLocks noGrp="1"/>
          </p:cNvSpPr>
          <p:nvPr>
            <p:ph idx="1"/>
          </p:nvPr>
        </p:nvSpPr>
        <p:spPr>
          <a:xfrm>
            <a:off x="1141412" y="1129553"/>
            <a:ext cx="9905999" cy="5365376"/>
          </a:xfrm>
        </p:spPr>
        <p:txBody>
          <a:bodyPr/>
          <a:lstStyle/>
          <a:p>
            <a:pPr marL="0" indent="0">
              <a:buNone/>
            </a:pPr>
            <a:r>
              <a:rPr lang="en-US" dirty="0"/>
              <a:t>JavaScript powers dynamic and interactive elements:</a:t>
            </a:r>
          </a:p>
          <a:p>
            <a:pPr lvl="0"/>
            <a:r>
              <a:rPr lang="en-US" dirty="0"/>
              <a:t>Real-time chat/discussion forum (using Web-Sockets Socket.IO)  </a:t>
            </a:r>
          </a:p>
          <a:p>
            <a:pPr lvl="0"/>
            <a:r>
              <a:rPr lang="en-US" dirty="0"/>
              <a:t>Live notifications (pop-ups or alerts when someone joins a project or posts a message)  </a:t>
            </a:r>
          </a:p>
          <a:p>
            <a:pPr lvl="0"/>
            <a:r>
              <a:rPr lang="en-US" dirty="0"/>
              <a:t>Interactive project browsing (filtering, searching, sorting projects without page reloads)  </a:t>
            </a:r>
          </a:p>
          <a:p>
            <a:pPr lvl="0"/>
            <a:r>
              <a:rPr lang="en-US" dirty="0"/>
              <a:t>Form validation (checking inputs before submission)  </a:t>
            </a:r>
          </a:p>
          <a:p>
            <a:pPr lvl="0"/>
            <a:r>
              <a:rPr lang="en-US" dirty="0"/>
              <a:t>Dynamic updates (auto-refreshing project progress, team status, or discussion threads)  </a:t>
            </a:r>
          </a:p>
          <a:p>
            <a:pPr marL="0" indent="0">
              <a:buNone/>
            </a:pPr>
            <a:endParaRPr lang="en-US" dirty="0"/>
          </a:p>
        </p:txBody>
      </p:sp>
    </p:spTree>
    <p:extLst>
      <p:ext uri="{BB962C8B-B14F-4D97-AF65-F5344CB8AC3E}">
        <p14:creationId xmlns:p14="http://schemas.microsoft.com/office/powerpoint/2010/main" val="3212443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A753B-C799-A9A1-5961-E5585EEE35C6}"/>
              </a:ext>
            </a:extLst>
          </p:cNvPr>
          <p:cNvSpPr>
            <a:spLocks noGrp="1"/>
          </p:cNvSpPr>
          <p:nvPr>
            <p:ph type="title"/>
          </p:nvPr>
        </p:nvSpPr>
        <p:spPr>
          <a:xfrm>
            <a:off x="1141413" y="206141"/>
            <a:ext cx="9905998" cy="860658"/>
          </a:xfrm>
        </p:spPr>
        <p:txBody>
          <a:bodyPr/>
          <a:lstStyle/>
          <a:p>
            <a:r>
              <a:rPr lang="en-US" dirty="0"/>
              <a:t>Expected outcomes</a:t>
            </a:r>
          </a:p>
        </p:txBody>
      </p:sp>
      <p:sp>
        <p:nvSpPr>
          <p:cNvPr id="3" name="Content Placeholder 2">
            <a:extLst>
              <a:ext uri="{FF2B5EF4-FFF2-40B4-BE49-F238E27FC236}">
                <a16:creationId xmlns:a16="http://schemas.microsoft.com/office/drawing/2014/main" id="{898B34D1-471D-CA36-F657-AEAFFD11E726}"/>
              </a:ext>
            </a:extLst>
          </p:cNvPr>
          <p:cNvSpPr>
            <a:spLocks noGrp="1"/>
          </p:cNvSpPr>
          <p:nvPr>
            <p:ph idx="1"/>
          </p:nvPr>
        </p:nvSpPr>
        <p:spPr>
          <a:xfrm>
            <a:off x="1141412" y="1411940"/>
            <a:ext cx="9905999" cy="4908177"/>
          </a:xfrm>
        </p:spPr>
        <p:txBody>
          <a:bodyPr/>
          <a:lstStyle/>
          <a:p>
            <a:r>
              <a:rPr lang="en-US" dirty="0">
                <a:latin typeface="Tw Cen MT (Headings)"/>
                <a:cs typeface="Times New Roman" panose="02020603050405020304" pitchFamily="18" charset="0"/>
              </a:rPr>
              <a:t>A functional user-friendly platform for students to collaborate on projects </a:t>
            </a:r>
          </a:p>
          <a:p>
            <a:r>
              <a:rPr lang="en-US" dirty="0">
                <a:latin typeface="Tw Cen MT (Headings)"/>
                <a:cs typeface="Times New Roman" panose="02020603050405020304" pitchFamily="18" charset="0"/>
              </a:rPr>
              <a:t>A community of innovators with increased interdisciplinary collaboration and knowledge sharing </a:t>
            </a:r>
          </a:p>
          <a:p>
            <a:r>
              <a:rPr lang="en-US" dirty="0">
                <a:latin typeface="Tw Cen MT (Headings)"/>
                <a:cs typeface="Times New Roman" panose="02020603050405020304" pitchFamily="18" charset="0"/>
              </a:rPr>
              <a:t>Improved employability and entrepreneurial skills among the engineering students </a:t>
            </a:r>
          </a:p>
          <a:p>
            <a:r>
              <a:rPr lang="en-US" dirty="0">
                <a:latin typeface="Tw Cen MT (Headings)"/>
                <a:cs typeface="Times New Roman" panose="02020603050405020304" pitchFamily="18" charset="0"/>
              </a:rPr>
              <a:t>A comprehensive evaluation of innovation hub’s effectiveness, informing future development and implementation</a:t>
            </a:r>
          </a:p>
          <a:p>
            <a:r>
              <a:rPr lang="en-US" dirty="0">
                <a:latin typeface="Tw Cen MT (Headings)"/>
                <a:cs typeface="Times New Roman" panose="02020603050405020304" pitchFamily="18" charset="0"/>
              </a:rPr>
              <a:t>Startups</a:t>
            </a:r>
          </a:p>
          <a:p>
            <a:endParaRPr lang="en-US" dirty="0">
              <a:latin typeface="Tw Cen MT (Headings)"/>
            </a:endParaRPr>
          </a:p>
        </p:txBody>
      </p:sp>
    </p:spTree>
    <p:extLst>
      <p:ext uri="{BB962C8B-B14F-4D97-AF65-F5344CB8AC3E}">
        <p14:creationId xmlns:p14="http://schemas.microsoft.com/office/powerpoint/2010/main" val="799289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FE54860-EC6A-9A4B-757C-D523B24A4079}"/>
              </a:ext>
            </a:extLst>
          </p:cNvPr>
          <p:cNvSpPr>
            <a:spLocks noGrp="1"/>
          </p:cNvSpPr>
          <p:nvPr>
            <p:ph type="title"/>
          </p:nvPr>
        </p:nvSpPr>
        <p:spPr>
          <a:xfrm>
            <a:off x="1141412" y="36510"/>
            <a:ext cx="2623764" cy="1030289"/>
          </a:xfrm>
        </p:spPr>
        <p:txBody>
          <a:bodyPr/>
          <a:lstStyle/>
          <a:p>
            <a:r>
              <a:rPr lang="en-US" dirty="0"/>
              <a:t>resources</a:t>
            </a:r>
          </a:p>
        </p:txBody>
      </p:sp>
      <p:sp>
        <p:nvSpPr>
          <p:cNvPr id="6" name="Content Placeholder 2">
            <a:extLst>
              <a:ext uri="{FF2B5EF4-FFF2-40B4-BE49-F238E27FC236}">
                <a16:creationId xmlns:a16="http://schemas.microsoft.com/office/drawing/2014/main" id="{93F23824-0C1F-F4CD-2887-E519D55BCFAB}"/>
              </a:ext>
            </a:extLst>
          </p:cNvPr>
          <p:cNvSpPr txBox="1">
            <a:spLocks/>
          </p:cNvSpPr>
          <p:nvPr/>
        </p:nvSpPr>
        <p:spPr>
          <a:xfrm>
            <a:off x="1371600" y="2635625"/>
            <a:ext cx="9905999" cy="232634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Computing resources (laptop, software, internet)</a:t>
            </a:r>
          </a:p>
          <a:p>
            <a:r>
              <a:rPr lang="en-US" dirty="0"/>
              <a:t>Domain name (free on the internet “</a:t>
            </a:r>
            <a:r>
              <a:rPr lang="en-US" dirty="0" err="1"/>
              <a:t>Freenom</a:t>
            </a:r>
            <a:r>
              <a:rPr lang="en-US" dirty="0"/>
              <a:t>” &amp; </a:t>
            </a:r>
            <a:r>
              <a:rPr lang="en-US" dirty="0" err="1"/>
              <a:t>DigitalPlat</a:t>
            </a:r>
            <a:r>
              <a:rPr lang="en-US" dirty="0"/>
              <a:t> </a:t>
            </a:r>
            <a:r>
              <a:rPr lang="en-US" dirty="0" err="1"/>
              <a:t>FreeDomain</a:t>
            </a:r>
            <a:r>
              <a:rPr lang="en-US" dirty="0"/>
              <a:t>)</a:t>
            </a:r>
          </a:p>
          <a:p>
            <a:r>
              <a:rPr lang="en-US" dirty="0"/>
              <a:t>Web hosting ($5.00/month)</a:t>
            </a:r>
          </a:p>
        </p:txBody>
      </p:sp>
    </p:spTree>
    <p:extLst>
      <p:ext uri="{BB962C8B-B14F-4D97-AF65-F5344CB8AC3E}">
        <p14:creationId xmlns:p14="http://schemas.microsoft.com/office/powerpoint/2010/main" val="4078539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D39FB-EC04-F1B6-8574-FBDE7DE1D48A}"/>
              </a:ext>
            </a:extLst>
          </p:cNvPr>
          <p:cNvSpPr>
            <a:spLocks noGrp="1"/>
          </p:cNvSpPr>
          <p:nvPr>
            <p:ph type="title"/>
          </p:nvPr>
        </p:nvSpPr>
        <p:spPr>
          <a:xfrm>
            <a:off x="1141412" y="0"/>
            <a:ext cx="9905998" cy="887553"/>
          </a:xfrm>
        </p:spPr>
        <p:txBody>
          <a:bodyPr/>
          <a:lstStyle/>
          <a:p>
            <a:r>
              <a:rPr lang="en-US" dirty="0"/>
              <a:t>Timeline</a:t>
            </a:r>
          </a:p>
        </p:txBody>
      </p:sp>
      <p:sp>
        <p:nvSpPr>
          <p:cNvPr id="3" name="Content Placeholder 2">
            <a:extLst>
              <a:ext uri="{FF2B5EF4-FFF2-40B4-BE49-F238E27FC236}">
                <a16:creationId xmlns:a16="http://schemas.microsoft.com/office/drawing/2014/main" id="{25AB494E-138A-3DA0-3077-D0F0A39B62C0}"/>
              </a:ext>
            </a:extLst>
          </p:cNvPr>
          <p:cNvSpPr>
            <a:spLocks noGrp="1"/>
          </p:cNvSpPr>
          <p:nvPr>
            <p:ph idx="1"/>
          </p:nvPr>
        </p:nvSpPr>
        <p:spPr>
          <a:xfrm>
            <a:off x="1141412" y="1075764"/>
            <a:ext cx="9905999" cy="5177117"/>
          </a:xfrm>
        </p:spPr>
        <p:txBody>
          <a:bodyPr/>
          <a:lstStyle/>
          <a:p>
            <a:pPr marL="457200" indent="-457200">
              <a:buAutoNum type="arabicPeriod"/>
            </a:pPr>
            <a:r>
              <a:rPr lang="en-US" dirty="0"/>
              <a:t>Literature review and requirements gathering 1 week</a:t>
            </a:r>
          </a:p>
          <a:p>
            <a:pPr marL="457200" indent="-457200">
              <a:buAutoNum type="arabicPeriod"/>
            </a:pPr>
            <a:r>
              <a:rPr lang="en-US" dirty="0"/>
              <a:t>Platform development 10 weeks </a:t>
            </a:r>
          </a:p>
          <a:p>
            <a:pPr marL="457200" indent="-457200">
              <a:buAutoNum type="arabicPeriod"/>
            </a:pPr>
            <a:r>
              <a:rPr lang="en-US" dirty="0"/>
              <a:t>Testing and evaluation 2 weeks</a:t>
            </a:r>
          </a:p>
          <a:p>
            <a:pPr marL="457200" indent="-457200">
              <a:buAutoNum type="arabicPeriod"/>
            </a:pPr>
            <a:r>
              <a:rPr lang="en-US" dirty="0"/>
              <a:t>Final report and presentation 1weeks</a:t>
            </a:r>
          </a:p>
        </p:txBody>
      </p:sp>
    </p:spTree>
    <p:extLst>
      <p:ext uri="{BB962C8B-B14F-4D97-AF65-F5344CB8AC3E}">
        <p14:creationId xmlns:p14="http://schemas.microsoft.com/office/powerpoint/2010/main" val="2665386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2C46-4843-DC36-C482-5CB843B3D9A6}"/>
              </a:ext>
            </a:extLst>
          </p:cNvPr>
          <p:cNvSpPr>
            <a:spLocks noGrp="1"/>
          </p:cNvSpPr>
          <p:nvPr>
            <p:ph type="title"/>
          </p:nvPr>
        </p:nvSpPr>
        <p:spPr>
          <a:xfrm>
            <a:off x="1141413" y="174812"/>
            <a:ext cx="9905998" cy="887506"/>
          </a:xfrm>
        </p:spPr>
        <p:txBody>
          <a:bodyPr/>
          <a:lstStyle/>
          <a:p>
            <a:r>
              <a:rPr lang="en-US" dirty="0"/>
              <a:t>benefits</a:t>
            </a:r>
          </a:p>
        </p:txBody>
      </p:sp>
      <p:sp>
        <p:nvSpPr>
          <p:cNvPr id="3" name="Content Placeholder 2">
            <a:extLst>
              <a:ext uri="{FF2B5EF4-FFF2-40B4-BE49-F238E27FC236}">
                <a16:creationId xmlns:a16="http://schemas.microsoft.com/office/drawing/2014/main" id="{F8572BF1-EF84-9DEF-7D11-93C5E84554EC}"/>
              </a:ext>
            </a:extLst>
          </p:cNvPr>
          <p:cNvSpPr>
            <a:spLocks noGrp="1"/>
          </p:cNvSpPr>
          <p:nvPr>
            <p:ph idx="1"/>
          </p:nvPr>
        </p:nvSpPr>
        <p:spPr>
          <a:xfrm>
            <a:off x="838200" y="1557338"/>
            <a:ext cx="10515600" cy="4935537"/>
          </a:xfrm>
        </p:spPr>
        <p:txBody>
          <a:bodyPr>
            <a:normAutofit fontScale="92500" lnSpcReduction="10000"/>
          </a:bodyPr>
          <a:lstStyle/>
          <a:p>
            <a:pPr marL="457200" indent="-457200">
              <a:buFont typeface="+mj-lt"/>
              <a:buAutoNum type="arabicPeriod"/>
            </a:pPr>
            <a:r>
              <a:rPr lang="en-US" sz="2400" b="1" dirty="0">
                <a:latin typeface="Tw Cen MT (Headings)"/>
                <a:cs typeface="Times New Roman" panose="02020603050405020304" pitchFamily="18" charset="0"/>
              </a:rPr>
              <a:t>Revenue Generation Through Project Commercialization</a:t>
            </a:r>
            <a:br>
              <a:rPr lang="en-US" sz="2400" dirty="0">
                <a:latin typeface="Tw Cen MT (Headings)"/>
                <a:cs typeface="Times New Roman" panose="02020603050405020304" pitchFamily="18" charset="0"/>
              </a:rPr>
            </a:br>
            <a:r>
              <a:rPr lang="en-US" sz="2400" dirty="0">
                <a:latin typeface="Tw Cen MT (Headings)"/>
                <a:cs typeface="Times New Roman" panose="02020603050405020304" pitchFamily="18" charset="0"/>
              </a:rPr>
              <a:t>The institution can license or sell viable student-developed projects to industry partners, startups, or government agencies. Successful prototypes, software solutions, or engineering designs can be monetized, creating a new income stream for the university.</a:t>
            </a:r>
          </a:p>
          <a:p>
            <a:pPr marL="457200" indent="-457200">
              <a:buFont typeface="+mj-lt"/>
              <a:buAutoNum type="arabicPeriod"/>
            </a:pPr>
            <a:r>
              <a:rPr lang="en-US" sz="2400" b="1" dirty="0">
                <a:latin typeface="Tw Cen MT (Headings)"/>
                <a:cs typeface="Times New Roman" panose="02020603050405020304" pitchFamily="18" charset="0"/>
              </a:rPr>
              <a:t>Intellectual Property and Royalties</a:t>
            </a:r>
            <a:br>
              <a:rPr lang="en-US" sz="2400" dirty="0">
                <a:latin typeface="Tw Cen MT (Headings)"/>
                <a:cs typeface="Times New Roman" panose="02020603050405020304" pitchFamily="18" charset="0"/>
              </a:rPr>
            </a:br>
            <a:r>
              <a:rPr lang="en-US" sz="2400" dirty="0">
                <a:latin typeface="Tw Cen MT (Headings)"/>
                <a:cs typeface="Times New Roman" panose="02020603050405020304" pitchFamily="18" charset="0"/>
              </a:rPr>
              <a:t>The university can establish an IP policy where student projects developed on the platform are co-owned by the institution, enabling royalty collection from patents, trademarks, or commercially deployed innovations.</a:t>
            </a:r>
          </a:p>
          <a:p>
            <a:pPr marL="457200" indent="-457200">
              <a:buFont typeface="+mj-lt"/>
              <a:buAutoNum type="arabicPeriod"/>
            </a:pPr>
            <a:r>
              <a:rPr lang="en-US" sz="2400" b="1" dirty="0">
                <a:latin typeface="Tw Cen MT (Headings)"/>
                <a:cs typeface="Times New Roman" panose="02020603050405020304" pitchFamily="18" charset="0"/>
              </a:rPr>
              <a:t>Spin-Off Companies and Startups</a:t>
            </a:r>
            <a:br>
              <a:rPr lang="en-US" sz="2400" dirty="0">
                <a:latin typeface="Tw Cen MT (Headings)"/>
                <a:cs typeface="Times New Roman" panose="02020603050405020304" pitchFamily="18" charset="0"/>
              </a:rPr>
            </a:br>
            <a:r>
              <a:rPr lang="en-US" sz="2400" dirty="0">
                <a:latin typeface="Tw Cen MT (Headings)"/>
                <a:cs typeface="Times New Roman" panose="02020603050405020304" pitchFamily="18" charset="0"/>
              </a:rPr>
              <a:t>The Innovation Hub can serve as an incubator for student-led startups. The university can take equity stakes or receive licensing fees from spin-off companies, generating long-term revenue.</a:t>
            </a:r>
          </a:p>
          <a:p>
            <a:pPr marL="457200" indent="-457200">
              <a:buFont typeface="+mj-lt"/>
              <a:buAutoNum type="arabicPeriod"/>
            </a:pPr>
            <a:endParaRPr lang="en-US" sz="2400" dirty="0">
              <a:latin typeface="Tw Cen MT (Headings)"/>
              <a:cs typeface="Times New Roman" panose="02020603050405020304" pitchFamily="18" charset="0"/>
            </a:endParaRPr>
          </a:p>
        </p:txBody>
      </p:sp>
    </p:spTree>
    <p:extLst>
      <p:ext uri="{BB962C8B-B14F-4D97-AF65-F5344CB8AC3E}">
        <p14:creationId xmlns:p14="http://schemas.microsoft.com/office/powerpoint/2010/main" val="100799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A102-1E31-E682-FA08-7AF2B9E245F0}"/>
              </a:ext>
            </a:extLst>
          </p:cNvPr>
          <p:cNvSpPr>
            <a:spLocks noGrp="1"/>
          </p:cNvSpPr>
          <p:nvPr>
            <p:ph type="title"/>
          </p:nvPr>
        </p:nvSpPr>
        <p:spPr>
          <a:xfrm>
            <a:off x="1141413" y="0"/>
            <a:ext cx="9905998" cy="1277471"/>
          </a:xfrm>
        </p:spPr>
        <p:txBody>
          <a:bodyPr/>
          <a:lstStyle/>
          <a:p>
            <a:r>
              <a:rPr lang="en-US" dirty="0"/>
              <a:t>Continuation</a:t>
            </a:r>
          </a:p>
        </p:txBody>
      </p:sp>
      <p:sp>
        <p:nvSpPr>
          <p:cNvPr id="3" name="Content Placeholder 2">
            <a:extLst>
              <a:ext uri="{FF2B5EF4-FFF2-40B4-BE49-F238E27FC236}">
                <a16:creationId xmlns:a16="http://schemas.microsoft.com/office/drawing/2014/main" id="{D60D95B3-C9FB-2BCC-DEC9-DEE4FD6F725B}"/>
              </a:ext>
            </a:extLst>
          </p:cNvPr>
          <p:cNvSpPr>
            <a:spLocks noGrp="1"/>
          </p:cNvSpPr>
          <p:nvPr>
            <p:ph idx="1"/>
          </p:nvPr>
        </p:nvSpPr>
        <p:spPr>
          <a:xfrm>
            <a:off x="838200" y="1371600"/>
            <a:ext cx="10515600" cy="4988859"/>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Industry-Funded Research and Development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Companies may fund the development of specific projects or challenge-based innovations on the platform, with the university receiving research contracts or sponsorship fees.</a:t>
            </a:r>
          </a:p>
          <a:p>
            <a:r>
              <a:rPr lang="en-US" sz="2400" dirty="0">
                <a:latin typeface="Times New Roman" panose="02020603050405020304" pitchFamily="18" charset="0"/>
                <a:cs typeface="Times New Roman" panose="02020603050405020304" pitchFamily="18" charset="0"/>
              </a:rPr>
              <a:t>Paid Access for External Users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platform could be opened to students from other institutions or external innovators for a subscription or access fee, creating a new revenue model.</a:t>
            </a:r>
          </a:p>
          <a:p>
            <a:r>
              <a:rPr lang="en-US" sz="2400" dirty="0">
                <a:latin typeface="Times New Roman" panose="02020603050405020304" pitchFamily="18" charset="0"/>
                <a:cs typeface="Times New Roman" panose="02020603050405020304" pitchFamily="18" charset="0"/>
              </a:rPr>
              <a:t>Enhanced Institutional Reputation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Positioning the university as a leader in innovation and interdisciplinary collaboration attracts high caliber students, academic partners, and donors.</a:t>
            </a:r>
          </a:p>
          <a:p>
            <a:r>
              <a:rPr lang="en-US" sz="2400" dirty="0">
                <a:latin typeface="Times New Roman" panose="02020603050405020304" pitchFamily="18" charset="0"/>
                <a:cs typeface="Times New Roman" panose="02020603050405020304" pitchFamily="18" charset="0"/>
              </a:rPr>
              <a:t>Improved Student Employability and Graduate Outcomes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Industry-ready graduates enhance the university's employability rankings and appeal to prospective students.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004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803A6E-421E-7164-EA91-7E07A5559BA6}"/>
              </a:ext>
            </a:extLst>
          </p:cNvPr>
          <p:cNvSpPr>
            <a:spLocks noGrp="1"/>
          </p:cNvSpPr>
          <p:nvPr>
            <p:ph idx="1"/>
          </p:nvPr>
        </p:nvSpPr>
        <p:spPr>
          <a:xfrm>
            <a:off x="838200" y="328613"/>
            <a:ext cx="10515600" cy="5848350"/>
          </a:xfrm>
        </p:spPr>
        <p:txBody>
          <a:bodyPr>
            <a:normAutofit/>
          </a:bodyPr>
          <a:lstStyle/>
          <a:p>
            <a:r>
              <a:rPr lang="en-US" sz="2000" dirty="0">
                <a:latin typeface="Tw Cen MT (Headings)"/>
                <a:cs typeface="Times New Roman" panose="02020603050405020304" pitchFamily="18" charset="0"/>
              </a:rPr>
              <a:t>Stronger Industry Linkages and Partnerships</a:t>
            </a:r>
            <a:br>
              <a:rPr lang="en-US" sz="2000" dirty="0">
                <a:latin typeface="Tw Cen MT (Headings)"/>
                <a:cs typeface="Times New Roman" panose="02020603050405020304" pitchFamily="18" charset="0"/>
              </a:rPr>
            </a:br>
            <a:r>
              <a:rPr lang="en-US" sz="2000" dirty="0">
                <a:latin typeface="Tw Cen MT (Headings)"/>
                <a:cs typeface="Times New Roman" panose="02020603050405020304" pitchFamily="18" charset="0"/>
              </a:rPr>
              <a:t>The platform facilitates collaboration with companies on real-world problems, leading to sponsored projects, internships, and memoranda of understanding.</a:t>
            </a:r>
          </a:p>
          <a:p>
            <a:r>
              <a:rPr lang="en-US" sz="2000" dirty="0">
                <a:latin typeface="Tw Cen MT (Headings)"/>
                <a:cs typeface="Times New Roman" panose="02020603050405020304" pitchFamily="18" charset="0"/>
              </a:rPr>
              <a:t>Increased Research Output and Academic Recognition</a:t>
            </a:r>
            <a:br>
              <a:rPr lang="en-US" sz="2000" dirty="0">
                <a:latin typeface="Tw Cen MT (Headings)"/>
                <a:cs typeface="Times New Roman" panose="02020603050405020304" pitchFamily="18" charset="0"/>
              </a:rPr>
            </a:br>
            <a:r>
              <a:rPr lang="en-US" sz="2000" dirty="0">
                <a:latin typeface="Tw Cen MT (Headings)"/>
                <a:cs typeface="Times New Roman" panose="02020603050405020304" pitchFamily="18" charset="0"/>
              </a:rPr>
              <a:t>Projects can evolve into conference papers, journal articles, and patents, raising the university's research profile.</a:t>
            </a:r>
          </a:p>
          <a:p>
            <a:r>
              <a:rPr lang="en-US" sz="2000" dirty="0">
                <a:latin typeface="Tw Cen MT (Headings)"/>
                <a:cs typeface="Times New Roman" panose="02020603050405020304" pitchFamily="18" charset="0"/>
              </a:rPr>
              <a:t>Data-Driven Curriculum Improvement</a:t>
            </a:r>
            <a:br>
              <a:rPr lang="en-US" sz="2000" dirty="0">
                <a:latin typeface="Tw Cen MT (Headings)"/>
                <a:cs typeface="Times New Roman" panose="02020603050405020304" pitchFamily="18" charset="0"/>
              </a:rPr>
            </a:br>
            <a:r>
              <a:rPr lang="en-US" sz="2000" dirty="0">
                <a:latin typeface="Tw Cen MT (Headings)"/>
                <a:cs typeface="Times New Roman" panose="02020603050405020304" pitchFamily="18" charset="0"/>
              </a:rPr>
              <a:t>Analytics from the platform can reveal skill gaps and emerging industry trends, inform curriculum updates and keep programs relevant.</a:t>
            </a:r>
          </a:p>
          <a:p>
            <a:r>
              <a:rPr lang="en-US" sz="2000" dirty="0">
                <a:latin typeface="Tw Cen MT (Headings)"/>
                <a:cs typeface="Times New Roman" panose="02020603050405020304" pitchFamily="18" charset="0"/>
              </a:rPr>
              <a:t>Promotion of Interdisciplinary Collaboration</a:t>
            </a:r>
            <a:br>
              <a:rPr lang="en-US" sz="2000" dirty="0">
                <a:latin typeface="Tw Cen MT (Headings)"/>
                <a:cs typeface="Times New Roman" panose="02020603050405020304" pitchFamily="18" charset="0"/>
              </a:rPr>
            </a:br>
            <a:r>
              <a:rPr lang="en-US" sz="2000" dirty="0">
                <a:latin typeface="Tw Cen MT (Headings)"/>
                <a:cs typeface="Times New Roman" panose="02020603050405020304" pitchFamily="18" charset="0"/>
              </a:rPr>
              <a:t>Breaks down departmental silos and fosters a culture of cross-faculty innovation and teamwork.</a:t>
            </a:r>
          </a:p>
          <a:p>
            <a:endParaRPr lang="en-US" sz="2000" dirty="0">
              <a:latin typeface="Tw Cen MT (Headings)"/>
              <a:cs typeface="Times New Roman" panose="02020603050405020304" pitchFamily="18" charset="0"/>
            </a:endParaRPr>
          </a:p>
        </p:txBody>
      </p:sp>
    </p:spTree>
    <p:extLst>
      <p:ext uri="{BB962C8B-B14F-4D97-AF65-F5344CB8AC3E}">
        <p14:creationId xmlns:p14="http://schemas.microsoft.com/office/powerpoint/2010/main" val="2597080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121470-844C-19B7-649F-4E0B2BDC0D48}"/>
              </a:ext>
            </a:extLst>
          </p:cNvPr>
          <p:cNvSpPr>
            <a:spLocks noGrp="1"/>
          </p:cNvSpPr>
          <p:nvPr>
            <p:ph idx="1"/>
          </p:nvPr>
        </p:nvSpPr>
        <p:spPr>
          <a:xfrm>
            <a:off x="1141412" y="282388"/>
            <a:ext cx="9905999" cy="6199094"/>
          </a:xfrm>
        </p:spPr>
        <p:txBody>
          <a:bodyPr>
            <a:noAutofit/>
          </a:bodyPr>
          <a:lstStyle/>
          <a:p>
            <a:r>
              <a:rPr lang="en-US" sz="2000" dirty="0">
                <a:latin typeface="+mj-lt"/>
                <a:cs typeface="Times New Roman" panose="02020603050405020304" pitchFamily="18" charset="0"/>
              </a:rPr>
              <a:t>Student Retention and Engagement</a:t>
            </a:r>
            <a:br>
              <a:rPr lang="en-US" sz="2000" dirty="0">
                <a:latin typeface="+mj-lt"/>
                <a:cs typeface="Times New Roman" panose="02020603050405020304" pitchFamily="18" charset="0"/>
              </a:rPr>
            </a:br>
            <a:r>
              <a:rPr lang="en-US" sz="2000" dirty="0">
                <a:latin typeface="+mj-lt"/>
                <a:cs typeface="Times New Roman" panose="02020603050405020304" pitchFamily="18" charset="0"/>
              </a:rPr>
              <a:t>A vibrant, collaborative environment increases student satisfaction and reduces dropout rates.</a:t>
            </a:r>
          </a:p>
          <a:p>
            <a:r>
              <a:rPr lang="en-US" sz="2000" dirty="0">
                <a:latin typeface="+mj-lt"/>
                <a:cs typeface="Times New Roman" panose="02020603050405020304" pitchFamily="18" charset="0"/>
              </a:rPr>
              <a:t>Low-Cost, Scalable Innovation Infrastructure</a:t>
            </a:r>
            <a:br>
              <a:rPr lang="en-US" sz="2000" dirty="0">
                <a:latin typeface="+mj-lt"/>
                <a:cs typeface="Times New Roman" panose="02020603050405020304" pitchFamily="18" charset="0"/>
              </a:rPr>
            </a:br>
            <a:r>
              <a:rPr lang="en-US" sz="2000" dirty="0">
                <a:latin typeface="+mj-lt"/>
                <a:cs typeface="Times New Roman" panose="02020603050405020304" pitchFamily="18" charset="0"/>
              </a:rPr>
              <a:t>Built using open-source tools, the platform provides a sustainable, expandable foundation for innovation at minimal cost.</a:t>
            </a:r>
          </a:p>
          <a:p>
            <a:r>
              <a:rPr lang="en-US" sz="2000" dirty="0">
                <a:latin typeface="+mj-lt"/>
                <a:cs typeface="Times New Roman" panose="02020603050405020304" pitchFamily="18" charset="0"/>
              </a:rPr>
              <a:t>Showcase for Fundraising and Alumni Engagement</a:t>
            </a:r>
            <a:br>
              <a:rPr lang="en-US" sz="2000" dirty="0">
                <a:latin typeface="+mj-lt"/>
                <a:cs typeface="Times New Roman" panose="02020603050405020304" pitchFamily="18" charset="0"/>
              </a:rPr>
            </a:br>
            <a:r>
              <a:rPr lang="en-US" sz="2000" dirty="0">
                <a:latin typeface="+mj-lt"/>
                <a:cs typeface="Times New Roman" panose="02020603050405020304" pitchFamily="18" charset="0"/>
              </a:rPr>
              <a:t>Successful student projects can be showcased to alumni and donors, supporting fundraising campaigns and endowments.</a:t>
            </a:r>
          </a:p>
          <a:p>
            <a:r>
              <a:rPr lang="en-US" sz="2000" dirty="0">
                <a:latin typeface="+mj-lt"/>
                <a:cs typeface="Times New Roman" panose="02020603050405020304" pitchFamily="18" charset="0"/>
              </a:rPr>
              <a:t>Support for Accreditation and Quality Assurance</a:t>
            </a:r>
            <a:br>
              <a:rPr lang="en-US" sz="2000" dirty="0">
                <a:latin typeface="+mj-lt"/>
                <a:cs typeface="Times New Roman" panose="02020603050405020304" pitchFamily="18" charset="0"/>
              </a:rPr>
            </a:br>
            <a:r>
              <a:rPr lang="en-US" sz="2000" dirty="0">
                <a:latin typeface="+mj-lt"/>
                <a:cs typeface="Times New Roman" panose="02020603050405020304" pitchFamily="18" charset="0"/>
              </a:rPr>
              <a:t>Demonstrates commitment to modern, outcomes-based education, supporting professional accreditation and institutional audits.</a:t>
            </a:r>
          </a:p>
          <a:p>
            <a:endParaRPr lang="en-US" sz="2000" dirty="0">
              <a:latin typeface="+mj-lt"/>
              <a:cs typeface="Times New Roman" panose="02020603050405020304" pitchFamily="18" charset="0"/>
            </a:endParaRPr>
          </a:p>
        </p:txBody>
      </p:sp>
    </p:spTree>
    <p:extLst>
      <p:ext uri="{BB962C8B-B14F-4D97-AF65-F5344CB8AC3E}">
        <p14:creationId xmlns:p14="http://schemas.microsoft.com/office/powerpoint/2010/main" val="3865596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50AAC-E151-8EE3-DB7C-48404A13F1EF}"/>
              </a:ext>
            </a:extLst>
          </p:cNvPr>
          <p:cNvSpPr>
            <a:spLocks noGrp="1"/>
          </p:cNvSpPr>
          <p:nvPr>
            <p:ph type="title"/>
          </p:nvPr>
        </p:nvSpPr>
        <p:spPr/>
        <p:txBody>
          <a:bodyPr/>
          <a:lstStyle/>
          <a:p>
            <a:r>
              <a:rPr lang="it-IT" dirty="0"/>
              <a:t>Personnel</a:t>
            </a:r>
            <a:endParaRPr lang="en-US" dirty="0"/>
          </a:p>
        </p:txBody>
      </p:sp>
      <p:sp>
        <p:nvSpPr>
          <p:cNvPr id="3" name="Content Placeholder 2">
            <a:extLst>
              <a:ext uri="{FF2B5EF4-FFF2-40B4-BE49-F238E27FC236}">
                <a16:creationId xmlns:a16="http://schemas.microsoft.com/office/drawing/2014/main" id="{22202936-B1C3-A5DC-9B05-A461456C0A5F}"/>
              </a:ext>
            </a:extLst>
          </p:cNvPr>
          <p:cNvSpPr>
            <a:spLocks noGrp="1"/>
          </p:cNvSpPr>
          <p:nvPr>
            <p:ph idx="1"/>
          </p:nvPr>
        </p:nvSpPr>
        <p:spPr>
          <a:xfrm>
            <a:off x="1141412" y="2249486"/>
            <a:ext cx="9905999" cy="4097525"/>
          </a:xfrm>
        </p:spPr>
        <p:txBody>
          <a:bodyPr>
            <a:normAutofit fontScale="92500" lnSpcReduction="10000"/>
          </a:bodyPr>
          <a:lstStyle/>
          <a:p>
            <a:pPr marL="0" indent="0">
              <a:buNone/>
            </a:pPr>
            <a:r>
              <a:rPr lang="it-IT" dirty="0"/>
              <a:t>Researchers: </a:t>
            </a:r>
          </a:p>
          <a:p>
            <a:pPr marL="457200" indent="-457200">
              <a:buFont typeface="+mj-lt"/>
              <a:buAutoNum type="arabicPeriod"/>
            </a:pPr>
            <a:r>
              <a:rPr lang="it-IT" dirty="0"/>
              <a:t>Itai Vera L0248997W</a:t>
            </a:r>
          </a:p>
          <a:p>
            <a:pPr marL="457200" indent="-457200">
              <a:buFont typeface="+mj-lt"/>
              <a:buAutoNum type="arabicPeriod"/>
            </a:pPr>
            <a:r>
              <a:rPr lang="it-IT" dirty="0"/>
              <a:t>Mqhele Ncube L0249051C</a:t>
            </a:r>
          </a:p>
          <a:p>
            <a:pPr marL="457200" indent="-457200">
              <a:buFont typeface="+mj-lt"/>
              <a:buAutoNum type="arabicPeriod"/>
            </a:pPr>
            <a:r>
              <a:rPr lang="it-IT" dirty="0"/>
              <a:t>Petros Mushambadzi L0248876V</a:t>
            </a:r>
          </a:p>
          <a:p>
            <a:pPr marL="0" indent="0">
              <a:buNone/>
            </a:pPr>
            <a:endParaRPr lang="it-IT" dirty="0"/>
          </a:p>
          <a:p>
            <a:pPr marL="0" indent="0">
              <a:buNone/>
            </a:pPr>
            <a:r>
              <a:rPr lang="it-IT" dirty="0"/>
              <a:t>Supervisor: Mr Dovi</a:t>
            </a:r>
          </a:p>
          <a:p>
            <a:pPr marL="0" indent="0">
              <a:buNone/>
            </a:pPr>
            <a:endParaRPr lang="it-IT" dirty="0"/>
          </a:p>
          <a:p>
            <a:pPr marL="0" indent="0" algn="ctr">
              <a:buNone/>
            </a:pPr>
            <a:r>
              <a:rPr lang="it-IT" dirty="0"/>
              <a:t>Thank you!!!</a:t>
            </a:r>
          </a:p>
          <a:p>
            <a:pPr marL="0" indent="0">
              <a:buNone/>
            </a:pPr>
            <a:endParaRPr lang="it-IT" dirty="0"/>
          </a:p>
        </p:txBody>
      </p:sp>
    </p:spTree>
    <p:extLst>
      <p:ext uri="{BB962C8B-B14F-4D97-AF65-F5344CB8AC3E}">
        <p14:creationId xmlns:p14="http://schemas.microsoft.com/office/powerpoint/2010/main" val="13723911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1737</TotalTime>
  <Words>2103</Words>
  <Application>Microsoft Office PowerPoint</Application>
  <PresentationFormat>Widescreen</PresentationFormat>
  <Paragraphs>138</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Times New Roman</vt:lpstr>
      <vt:lpstr>Tw Cen MT</vt:lpstr>
      <vt:lpstr>Tw Cen MT (Body)</vt:lpstr>
      <vt:lpstr>Tw Cen MT (Headings)</vt:lpstr>
      <vt:lpstr>Circuit</vt:lpstr>
      <vt:lpstr>  Innovation Hub Fostering collaboration and Innovation among students</vt:lpstr>
      <vt:lpstr>Problem Statement</vt:lpstr>
      <vt:lpstr>Continuation...</vt:lpstr>
      <vt:lpstr>Definition of key terms </vt:lpstr>
      <vt:lpstr>This environment creates several critical challenges: </vt:lpstr>
      <vt:lpstr>Continuation</vt:lpstr>
      <vt:lpstr>Introduction</vt:lpstr>
      <vt:lpstr>Continuation</vt:lpstr>
      <vt:lpstr>Research objectives</vt:lpstr>
      <vt:lpstr>continuation</vt:lpstr>
      <vt:lpstr>PowerPoint Presentation</vt:lpstr>
      <vt:lpstr>Core features</vt:lpstr>
      <vt:lpstr>Continuation</vt:lpstr>
      <vt:lpstr>How this system will work</vt:lpstr>
      <vt:lpstr>Methodology</vt:lpstr>
      <vt:lpstr>Innovation Hub roadmap</vt:lpstr>
      <vt:lpstr>Tools  </vt:lpstr>
      <vt:lpstr>PowerPoint Presentation</vt:lpstr>
      <vt:lpstr>Frontend (HTML &amp; CSS)</vt:lpstr>
      <vt:lpstr>Interactivity &amp; Real-Time Features (JavaScript)</vt:lpstr>
      <vt:lpstr>Expected outcomes</vt:lpstr>
      <vt:lpstr>resources</vt:lpstr>
      <vt:lpstr>Timeline</vt:lpstr>
      <vt:lpstr>benefits</vt:lpstr>
      <vt:lpstr>Continuation</vt:lpstr>
      <vt:lpstr>PowerPoint Presentation</vt:lpstr>
      <vt:lpstr>PowerPoint Presentation</vt:lpstr>
      <vt:lpstr>Personnel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Itai Vera</dc:creator>
  <cp:lastModifiedBy>Itai Vera</cp:lastModifiedBy>
  <cp:revision>23</cp:revision>
  <dcterms:created xsi:type="dcterms:W3CDTF">2026-02-12T06:07:20Z</dcterms:created>
  <dcterms:modified xsi:type="dcterms:W3CDTF">2026-02-25T14:37:52Z</dcterms:modified>
</cp:coreProperties>
</file>